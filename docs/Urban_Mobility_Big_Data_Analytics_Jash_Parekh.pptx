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h parekh" userId="314bee4780f79406" providerId="LiveId" clId="{F5A7213B-31CE-431D-BC74-6F06EFFD9518}"/>
    <pc:docChg chg="delSld modSld">
      <pc:chgData name="jash parekh" userId="314bee4780f79406" providerId="LiveId" clId="{F5A7213B-31CE-431D-BC74-6F06EFFD9518}" dt="2026-10-27T04:16:18.069" v="1" actId="2696"/>
      <pc:docMkLst>
        <pc:docMk/>
      </pc:docMkLst>
      <pc:sldChg chg="modSp mod">
        <pc:chgData name="jash parekh" userId="314bee4780f79406" providerId="LiveId" clId="{F5A7213B-31CE-431D-BC74-6F06EFFD9518}" dt="2026-10-27T04:14:58.221" v="0" actId="1076"/>
        <pc:sldMkLst>
          <pc:docMk/>
          <pc:sldMk cId="0" sldId="256"/>
        </pc:sldMkLst>
        <pc:spChg chg="mod">
          <ac:chgData name="jash parekh" userId="314bee4780f79406" providerId="LiveId" clId="{F5A7213B-31CE-431D-BC74-6F06EFFD9518}" dt="2026-10-27T04:14:58.221" v="0" actId="1076"/>
          <ac:spMkLst>
            <pc:docMk/>
            <pc:sldMk cId="0" sldId="256"/>
            <ac:spMk id="5" creationId="{00000000-0000-0000-0000-000000000000}"/>
          </ac:spMkLst>
        </pc:spChg>
      </pc:sldChg>
      <pc:sldChg chg="del">
        <pc:chgData name="jash parekh" userId="314bee4780f79406" providerId="LiveId" clId="{F5A7213B-31CE-431D-BC74-6F06EFFD9518}" dt="2026-10-27T04:16:18.069" v="1" actId="2696"/>
        <pc:sldMkLst>
          <pc:docMk/>
          <pc:sldMk cId="0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8AD7CF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8AD7CF"/>
                </a:solidFill>
                <a:latin typeface="Aptos"/>
              </a:rPr>
              <a:t>01</a:t>
            </a:r>
          </a:p>
        </p:txBody>
      </p:sp>
      <p:sp>
        <p:nvSpPr>
          <p:cNvPr id="4" name="Oval 3"/>
          <p:cNvSpPr/>
          <p:nvPr/>
        </p:nvSpPr>
        <p:spPr>
          <a:xfrm>
            <a:off x="8869680" y="-1280160"/>
            <a:ext cx="4754880" cy="4754880"/>
          </a:xfrm>
          <a:prstGeom prst="ellipse">
            <a:avLst/>
          </a:prstGeom>
          <a:solidFill>
            <a:srgbClr val="102B3A"/>
          </a:solidFill>
          <a:ln w="10160">
            <a:solidFill>
              <a:srgbClr val="8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277227" y="-713232"/>
            <a:ext cx="3566160" cy="3566160"/>
          </a:xfrm>
          <a:prstGeom prst="ellipse">
            <a:avLst/>
          </a:prstGeom>
          <a:solidFill>
            <a:srgbClr val="102B3A"/>
          </a:solidFill>
          <a:ln w="10160">
            <a:solidFill>
              <a:srgbClr val="2E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731520"/>
            <a:ext cx="5303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8AD7CF"/>
                </a:solidFill>
                <a:latin typeface="Aptos"/>
              </a:rPr>
              <a:t>BIG DATA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34440"/>
            <a:ext cx="8046720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ptos Display"/>
              </a:rPr>
              <a:t>Urban Mobility
Analytics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52928"/>
            <a:ext cx="6492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B5C9CD"/>
                </a:solidFill>
                <a:latin typeface="Aptos"/>
              </a:rPr>
              <a:t>An end-to-end data platform using Apache Spark, MongoDB, FastAPI, and a web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069080"/>
            <a:ext cx="3337560" cy="1042415"/>
          </a:xfrm>
          <a:prstGeom prst="roundRect">
            <a:avLst/>
          </a:prstGeom>
          <a:solidFill>
            <a:srgbClr val="197C73"/>
          </a:solidFill>
          <a:ln w="10160">
            <a:solidFill>
              <a:srgbClr val="19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4270248"/>
            <a:ext cx="2834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JASH PAREKH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4590288"/>
            <a:ext cx="28346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8AD7CF"/>
                </a:solidFill>
                <a:latin typeface="Aptos"/>
              </a:rPr>
              <a:t>Roll No. 23BIT033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70448"/>
            <a:ext cx="58521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B5C9CD"/>
                </a:solidFill>
                <a:latin typeface="Aptos"/>
              </a:rPr>
              <a:t>January 2024 NYC TLC Yellow Taxi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870448"/>
            <a:ext cx="3200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8AD7CF"/>
                </a:solidFill>
                <a:latin typeface="Aptos"/>
              </a:rPr>
              <a:t>UNIVERSITY COURSE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4737D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37D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5029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01 ·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0202C"/>
                </a:solidFill>
                <a:latin typeface="Aptos Display"/>
              </a:rPr>
              <a:t>Turning millions of trips into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07592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4737D"/>
                </a:solidFill>
                <a:latin typeface="Aptos"/>
              </a:rPr>
              <a:t>The project demonstrates a complete analytics lifecycle, from raw data to an interactive presentation layer.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01952"/>
            <a:ext cx="2514600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901952"/>
            <a:ext cx="64008" cy="1216152"/>
          </a:xfrm>
          <a:prstGeom prst="rect">
            <a:avLst/>
          </a:prstGeom>
          <a:solidFill>
            <a:srgbClr val="2D7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2066544"/>
            <a:ext cx="2103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4737D"/>
                </a:solidFill>
                <a:latin typeface="Aptos"/>
              </a:rPr>
              <a:t>VALID TRIPS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295144"/>
            <a:ext cx="21031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10202C"/>
                </a:solidFill>
                <a:latin typeface="Aptos Display"/>
              </a:rPr>
              <a:t>2.87M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779776"/>
            <a:ext cx="2103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64737D"/>
                </a:solidFill>
                <a:latin typeface="Aptos"/>
              </a:rPr>
              <a:t>Spark-cleaned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901952"/>
            <a:ext cx="2514600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10128" y="1901952"/>
            <a:ext cx="64008" cy="1216152"/>
          </a:xfrm>
          <a:prstGeom prst="rect">
            <a:avLst/>
          </a:prstGeom>
          <a:solidFill>
            <a:srgbClr val="F07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11296" y="2066544"/>
            <a:ext cx="2103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4737D"/>
                </a:solidFill>
                <a:latin typeface="Aptos"/>
              </a:rPr>
              <a:t>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2295144"/>
            <a:ext cx="21031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10202C"/>
                </a:solidFill>
                <a:latin typeface="Aptos Display"/>
              </a:rPr>
              <a:t>$78.42M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2779776"/>
            <a:ext cx="2103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64737D"/>
                </a:solidFill>
                <a:latin typeface="Aptos"/>
              </a:rPr>
              <a:t>Aggregated total_amount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25896" y="1901952"/>
            <a:ext cx="2514600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25896" y="1901952"/>
            <a:ext cx="64008" cy="1216152"/>
          </a:xfrm>
          <a:prstGeom prst="rect">
            <a:avLst/>
          </a:prstGeom>
          <a:solidFill>
            <a:srgbClr val="18A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27064" y="2066544"/>
            <a:ext cx="2103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4737D"/>
                </a:solidFill>
                <a:latin typeface="Aptos"/>
              </a:rPr>
              <a:t>AVERAGE FARE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2295144"/>
            <a:ext cx="21031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10202C"/>
                </a:solidFill>
                <a:latin typeface="Aptos Display"/>
              </a:rPr>
              <a:t>$18.49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7064" y="2779776"/>
            <a:ext cx="2103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64737D"/>
                </a:solidFill>
                <a:latin typeface="Aptos"/>
              </a:rPr>
              <a:t>Per completed trip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41664" y="1901952"/>
            <a:ext cx="2514600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741664" y="1901952"/>
            <a:ext cx="64008" cy="1216152"/>
          </a:xfrm>
          <a:prstGeom prst="rect">
            <a:avLst/>
          </a:prstGeom>
          <a:solidFill>
            <a:srgbClr val="876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42832" y="2066544"/>
            <a:ext cx="2103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4737D"/>
                </a:solidFill>
                <a:latin typeface="Aptos"/>
              </a:rPr>
              <a:t>AVG. DISTANCE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2295144"/>
            <a:ext cx="21031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10202C"/>
                </a:solidFill>
                <a:latin typeface="Aptos Display"/>
              </a:rPr>
              <a:t>3.29 mi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832" y="2779776"/>
            <a:ext cx="2103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64737D"/>
                </a:solidFill>
                <a:latin typeface="Aptos"/>
              </a:rPr>
              <a:t>Trip distance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502152"/>
            <a:ext cx="11000232" cy="2075688"/>
          </a:xfrm>
          <a:prstGeom prst="roundRect">
            <a:avLst/>
          </a:prstGeom>
          <a:solidFill>
            <a:srgbClr val="DFF1ED"/>
          </a:solidFill>
          <a:ln w="10160">
            <a:solidFill>
              <a:srgbClr val="DF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3785615"/>
            <a:ext cx="1371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CORE IDEA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096512"/>
            <a:ext cx="699516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0202C"/>
                </a:solidFill>
                <a:latin typeface="Aptos Display"/>
              </a:rPr>
              <a:t>Raw taxi records are too detailed to serve directly to a dashboard. Spark performs the expensive distributed work once, MongoDB stores compact analytical results, and FastAPI serves fast responses to the frontend.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767328"/>
            <a:ext cx="2560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Business questions answered</a:t>
            </a:r>
          </a:p>
        </p:txBody>
      </p:sp>
      <p:sp>
        <p:nvSpPr>
          <p:cNvPr id="32" name="Oval 31"/>
          <p:cNvSpPr/>
          <p:nvPr/>
        </p:nvSpPr>
        <p:spPr>
          <a:xfrm>
            <a:off x="8275320" y="4206240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76488" y="4096512"/>
            <a:ext cx="2679191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0202C"/>
                </a:solidFill>
                <a:latin typeface="Aptos"/>
              </a:rPr>
              <a:t>When is demand highest?</a:t>
            </a:r>
          </a:p>
        </p:txBody>
      </p:sp>
      <p:sp>
        <p:nvSpPr>
          <p:cNvPr id="34" name="Oval 33"/>
          <p:cNvSpPr/>
          <p:nvPr/>
        </p:nvSpPr>
        <p:spPr>
          <a:xfrm>
            <a:off x="8275320" y="4517136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76488" y="4407408"/>
            <a:ext cx="2679191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0202C"/>
                </a:solidFill>
                <a:latin typeface="Aptos"/>
              </a:rPr>
              <a:t>Which zones and routes lead?</a:t>
            </a:r>
          </a:p>
        </p:txBody>
      </p:sp>
      <p:sp>
        <p:nvSpPr>
          <p:cNvPr id="36" name="Oval 35"/>
          <p:cNvSpPr/>
          <p:nvPr/>
        </p:nvSpPr>
        <p:spPr>
          <a:xfrm>
            <a:off x="8275320" y="4828032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76488" y="4718304"/>
            <a:ext cx="2679191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0202C"/>
                </a:solidFill>
                <a:latin typeface="Aptos"/>
              </a:rPr>
              <a:t>What is the revenue profile?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4737D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37D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5029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02 · PROBLEM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0202C"/>
                </a:solidFill>
                <a:latin typeface="Aptos Display"/>
              </a:rPr>
              <a:t>Why this analytics system is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07592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4737D"/>
                </a:solidFill>
                <a:latin typeface="Aptos"/>
              </a:rPr>
              <a:t>Urban transport data is high-volume, time-sensitive, and difficult to analyze efficiently without a distributed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230368" cy="3950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8288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07844"/>
                </a:solidFill>
                <a:latin typeface="Aptos"/>
              </a:rPr>
              <a:t>THE CHALLENGE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651760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2542032"/>
            <a:ext cx="4279392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202C"/>
                </a:solidFill>
                <a:latin typeface="Aptos"/>
              </a:rPr>
              <a:t>Millions of trip records contain invalid, missing, or unrealistic values.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154680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5568" y="3044952"/>
            <a:ext cx="4279392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202C"/>
                </a:solidFill>
                <a:latin typeface="Aptos"/>
              </a:rPr>
              <a:t>Repeatedly querying raw files creates unnecessary processing cost.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657600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15568" y="3547872"/>
            <a:ext cx="4279392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202C"/>
                </a:solidFill>
                <a:latin typeface="Aptos"/>
              </a:rPr>
              <a:t>Decision-makers need simple answers by hour, location, and route.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160520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5568" y="4050791"/>
            <a:ext cx="4279392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202C"/>
                </a:solidFill>
                <a:latin typeface="Aptos"/>
              </a:rPr>
              <a:t>A technical pipeline is not enough; results must be easy to demonstrate.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828800"/>
            <a:ext cx="5230368" cy="3950208"/>
          </a:xfrm>
          <a:prstGeom prst="roundRect">
            <a:avLst/>
          </a:prstGeom>
          <a:solidFill>
            <a:srgbClr val="E8F0FD"/>
          </a:solidFill>
          <a:ln w="10160">
            <a:solidFill>
              <a:srgbClr val="E8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2148840"/>
            <a:ext cx="22860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D75E6"/>
                </a:solidFill>
                <a:latin typeface="Aptos"/>
              </a:rPr>
              <a:t>PROJECT OBJECTIVES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2651760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84848" y="2542032"/>
            <a:ext cx="4279392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202C"/>
                </a:solidFill>
                <a:latin typeface="Aptos"/>
              </a:rPr>
              <a:t>Build a reproducible Spark ETL and analytics pipeline.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3154680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84848" y="3044952"/>
            <a:ext cx="4279392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202C"/>
                </a:solidFill>
                <a:latin typeface="Aptos"/>
              </a:rPr>
              <a:t>Store dashboard-ready aggregates in MongoDB.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657600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84848" y="3547872"/>
            <a:ext cx="4279392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202C"/>
                </a:solidFill>
                <a:latin typeface="Aptos"/>
              </a:rPr>
              <a:t>Expose results through documented REST endpoints.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4160520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84848" y="4050791"/>
            <a:ext cx="4279392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202C"/>
                </a:solidFill>
                <a:latin typeface="Aptos"/>
              </a:rPr>
              <a:t>Present insights through a responsive web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4737D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37D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5029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03 · DATA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0202C"/>
                </a:solidFill>
                <a:latin typeface="Aptos Display"/>
              </a:rPr>
              <a:t>NYC TLC Yellow Taxi trip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07592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4737D"/>
                </a:solidFill>
                <a:latin typeface="Aptos"/>
              </a:rPr>
              <a:t>A real public Parquet dataset was downloaded and processed locally with Apache Spark.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4663440" cy="3474720"/>
          </a:xfrm>
          <a:prstGeom prst="roundRect">
            <a:avLst/>
          </a:prstGeom>
          <a:solidFill>
            <a:srgbClr val="102B3A"/>
          </a:solidFill>
          <a:ln w="10160">
            <a:solidFill>
              <a:srgbClr val="10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176272"/>
            <a:ext cx="18288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8AD7CF"/>
                </a:solidFill>
                <a:latin typeface="Aptos"/>
              </a:rPr>
              <a:t>JANUARY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578608"/>
            <a:ext cx="32004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 Display"/>
              </a:rPr>
              <a:t>47.6 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55848"/>
            <a:ext cx="347472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B5C9CD"/>
                </a:solidFill>
                <a:latin typeface="Aptos"/>
              </a:rPr>
              <a:t>Parquet file
2.87 million valid records
19 source 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18888"/>
            <a:ext cx="3794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8AD7CF"/>
                </a:solidFill>
                <a:latin typeface="Aptos"/>
              </a:rPr>
              <a:t>Source: NYC Taxi &amp; Limousine Commission (TLC)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1828800"/>
            <a:ext cx="5833872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0" y="2176272"/>
            <a:ext cx="2743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IMPORTANT FIELDS 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578608"/>
            <a:ext cx="2926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0202C"/>
                </a:solidFill>
                <a:latin typeface="Courier New"/>
              </a:rPr>
              <a:t>tpep_pickup_datetime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578608"/>
            <a:ext cx="1645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Time analysis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35040" y="2834639"/>
            <a:ext cx="5102352" cy="0"/>
          </a:xfrm>
          <a:prstGeom prst="line">
            <a:avLst/>
          </a:prstGeom>
          <a:ln w="889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35040" y="2980944"/>
            <a:ext cx="2926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0202C"/>
                </a:solidFill>
                <a:latin typeface="Courier New"/>
              </a:rPr>
              <a:t>tpep_dropoff_datetime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980944"/>
            <a:ext cx="1645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Duration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5040" y="3236976"/>
            <a:ext cx="5102352" cy="0"/>
          </a:xfrm>
          <a:prstGeom prst="line">
            <a:avLst/>
          </a:prstGeom>
          <a:ln w="889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35040" y="3383279"/>
            <a:ext cx="2926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0202C"/>
                </a:solidFill>
                <a:latin typeface="Courier New"/>
              </a:rPr>
              <a:t>trip_distance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383279"/>
            <a:ext cx="1645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Distance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35040" y="3639311"/>
            <a:ext cx="5102352" cy="0"/>
          </a:xfrm>
          <a:prstGeom prst="line">
            <a:avLst/>
          </a:prstGeom>
          <a:ln w="889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35040" y="3785615"/>
            <a:ext cx="2926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0202C"/>
                </a:solidFill>
                <a:latin typeface="Courier New"/>
              </a:rPr>
              <a:t>fare_amount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785615"/>
            <a:ext cx="1645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Fare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35040" y="4041648"/>
            <a:ext cx="5102352" cy="0"/>
          </a:xfrm>
          <a:prstGeom prst="line">
            <a:avLst/>
          </a:prstGeom>
          <a:ln w="889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35040" y="4187952"/>
            <a:ext cx="2926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0202C"/>
                </a:solidFill>
                <a:latin typeface="Courier New"/>
              </a:rPr>
              <a:t>total_amount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4187952"/>
            <a:ext cx="1645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Revenue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35040" y="4443984"/>
            <a:ext cx="5102352" cy="0"/>
          </a:xfrm>
          <a:prstGeom prst="line">
            <a:avLst/>
          </a:prstGeom>
          <a:ln w="889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35040" y="4590288"/>
            <a:ext cx="2926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0202C"/>
                </a:solidFill>
                <a:latin typeface="Courier New"/>
              </a:rPr>
              <a:t>PULocationID / DOLocationID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4590288"/>
            <a:ext cx="1645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Routes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35040" y="4846320"/>
            <a:ext cx="5102352" cy="0"/>
          </a:xfrm>
          <a:prstGeom prst="line">
            <a:avLst/>
          </a:prstGeom>
          <a:ln w="889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4737D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37D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5029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04 ·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0202C"/>
                </a:solidFill>
                <a:latin typeface="Aptos Display"/>
              </a:rPr>
              <a:t>One pipeline, five 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07592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4737D"/>
                </a:solidFill>
                <a:latin typeface="Aptos"/>
              </a:rPr>
              <a:t>Each component has a focused responsibility: process, store, serve, visualize, and communicate.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331720"/>
            <a:ext cx="1847088" cy="1572768"/>
          </a:xfrm>
          <a:prstGeom prst="roundRect">
            <a:avLst/>
          </a:prstGeom>
          <a:solidFill>
            <a:srgbClr val="E8F0FD"/>
          </a:solidFill>
          <a:ln w="10160">
            <a:solidFill>
              <a:srgbClr val="E8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0664" y="2514600"/>
            <a:ext cx="329184" cy="329184"/>
          </a:xfrm>
          <a:prstGeom prst="ellipse">
            <a:avLst/>
          </a:prstGeom>
          <a:solidFill>
            <a:srgbClr val="2D75E6"/>
          </a:solidFill>
          <a:ln w="10160">
            <a:solidFill>
              <a:srgbClr val="2D7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664" y="2551176"/>
            <a:ext cx="329184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3017520"/>
            <a:ext cx="1554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0202C"/>
                </a:solidFill>
                <a:latin typeface="Aptos"/>
              </a:rPr>
              <a:t>TLC Parquet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401568"/>
            <a:ext cx="1554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4737D"/>
                </a:solidFill>
                <a:latin typeface="Aptos"/>
              </a:rPr>
              <a:t>Raw public data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59736" y="3118104"/>
            <a:ext cx="347472" cy="0"/>
          </a:xfrm>
          <a:prstGeom prst="line">
            <a:avLst/>
          </a:prstGeom>
          <a:ln w="25400">
            <a:solidFill>
              <a:srgbClr val="197C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80360" y="2331720"/>
            <a:ext cx="1847088" cy="1572768"/>
          </a:xfrm>
          <a:prstGeom prst="roundRect">
            <a:avLst/>
          </a:prstGeom>
          <a:solidFill>
            <a:srgbClr val="DFF1ED"/>
          </a:solidFill>
          <a:ln w="10160">
            <a:solidFill>
              <a:srgbClr val="DF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026664" y="2514600"/>
            <a:ext cx="329184" cy="329184"/>
          </a:xfrm>
          <a:prstGeom prst="ellipse">
            <a:avLst/>
          </a:prstGeom>
          <a:solidFill>
            <a:srgbClr val="197C73"/>
          </a:solidFill>
          <a:ln w="10160">
            <a:solidFill>
              <a:srgbClr val="19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26664" y="2551176"/>
            <a:ext cx="329184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6664" y="3017520"/>
            <a:ext cx="1554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0202C"/>
                </a:solidFill>
                <a:latin typeface="Aptos"/>
              </a:rPr>
              <a:t>Apache Spark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6664" y="3401568"/>
            <a:ext cx="1554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4737D"/>
                </a:solidFill>
                <a:latin typeface="Aptos"/>
              </a:rPr>
              <a:t>ETL + aggregations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45736" y="3118104"/>
            <a:ext cx="347472" cy="0"/>
          </a:xfrm>
          <a:prstGeom prst="line">
            <a:avLst/>
          </a:prstGeom>
          <a:ln w="25400">
            <a:solidFill>
              <a:srgbClr val="197C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66360" y="2331720"/>
            <a:ext cx="1847088" cy="1572768"/>
          </a:xfrm>
          <a:prstGeom prst="roundRect">
            <a:avLst/>
          </a:prstGeom>
          <a:solidFill>
            <a:srgbClr val="FDEFE8"/>
          </a:solidFill>
          <a:ln w="10160">
            <a:solidFill>
              <a:srgbClr val="FD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312664" y="2514600"/>
            <a:ext cx="329184" cy="329184"/>
          </a:xfrm>
          <a:prstGeom prst="ellipse">
            <a:avLst/>
          </a:prstGeom>
          <a:solidFill>
            <a:srgbClr val="F07844"/>
          </a:solidFill>
          <a:ln w="10160">
            <a:solidFill>
              <a:srgbClr val="F07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12664" y="2551176"/>
            <a:ext cx="329184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017520"/>
            <a:ext cx="1554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0202C"/>
                </a:solidFill>
                <a:latin typeface="Aptos"/>
              </a:rPr>
              <a:t>MongoDB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401568"/>
            <a:ext cx="1554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4737D"/>
                </a:solidFill>
                <a:latin typeface="Aptos"/>
              </a:rPr>
              <a:t>Analytics store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31736" y="3118104"/>
            <a:ext cx="347472" cy="0"/>
          </a:xfrm>
          <a:prstGeom prst="line">
            <a:avLst/>
          </a:prstGeom>
          <a:ln w="25400">
            <a:solidFill>
              <a:srgbClr val="197C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52360" y="2331720"/>
            <a:ext cx="1847088" cy="1572768"/>
          </a:xfrm>
          <a:prstGeom prst="roundRect">
            <a:avLst/>
          </a:prstGeom>
          <a:solidFill>
            <a:srgbClr val="EEE9FD"/>
          </a:solidFill>
          <a:ln w="10160">
            <a:solidFill>
              <a:srgbClr val="EEE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598664" y="2514600"/>
            <a:ext cx="329184" cy="329184"/>
          </a:xfrm>
          <a:prstGeom prst="ellipse">
            <a:avLst/>
          </a:prstGeom>
          <a:solidFill>
            <a:srgbClr val="8765DC"/>
          </a:solidFill>
          <a:ln w="10160">
            <a:solidFill>
              <a:srgbClr val="876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98664" y="2551176"/>
            <a:ext cx="329184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98664" y="3017520"/>
            <a:ext cx="1554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0202C"/>
                </a:solidFill>
                <a:latin typeface="Aptos"/>
              </a:rPr>
              <a:t>FastAPI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98664" y="3401568"/>
            <a:ext cx="1554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4737D"/>
                </a:solidFill>
                <a:latin typeface="Aptos"/>
              </a:rPr>
              <a:t>REST backend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317736" y="3118104"/>
            <a:ext cx="347472" cy="0"/>
          </a:xfrm>
          <a:prstGeom prst="line">
            <a:avLst/>
          </a:prstGeom>
          <a:ln w="25400">
            <a:solidFill>
              <a:srgbClr val="197C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738360" y="2331720"/>
            <a:ext cx="1847088" cy="1572768"/>
          </a:xfrm>
          <a:prstGeom prst="roundRect">
            <a:avLst/>
          </a:prstGeom>
          <a:solidFill>
            <a:srgbClr val="102B3A"/>
          </a:solidFill>
          <a:ln w="10160">
            <a:solidFill>
              <a:srgbClr val="10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884664" y="2514600"/>
            <a:ext cx="329184" cy="329184"/>
          </a:xfrm>
          <a:prstGeom prst="ellipse">
            <a:avLst/>
          </a:prstGeom>
          <a:solidFill>
            <a:srgbClr val="8AD7CF"/>
          </a:solidFill>
          <a:ln w="10160">
            <a:solidFill>
              <a:srgbClr val="8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84664" y="2551176"/>
            <a:ext cx="329184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102B3A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84664" y="3017520"/>
            <a:ext cx="1554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84664" y="3401568"/>
            <a:ext cx="1554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8AD7CF"/>
                </a:solidFill>
                <a:latin typeface="Aptos"/>
              </a:rPr>
              <a:t>Charts + KPIs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" y="4709160"/>
            <a:ext cx="101955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34440" y="4965192"/>
            <a:ext cx="1554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Design principle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4882896"/>
            <a:ext cx="7818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0202C"/>
                </a:solidFill>
                <a:latin typeface="Aptos Display"/>
              </a:rPr>
              <a:t>Process expensive raw data once → store small, fast-to-query results → serve a responsive user experience.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4737D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37D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5029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05 · DISTRIBUTED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0202C"/>
                </a:solidFill>
                <a:latin typeface="Aptos Display"/>
              </a:rPr>
              <a:t>What Apache Spark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07592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4737D"/>
                </a:solidFill>
                <a:latin typeface="Aptos"/>
              </a:rPr>
              <a:t>Spark reads the Parquet file, applies data-quality rules, derives analytical fields, and performs distributed aggregations.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4956048" cy="3474720"/>
          </a:xfrm>
          <a:prstGeom prst="roundRect">
            <a:avLst/>
          </a:prstGeom>
          <a:solidFill>
            <a:srgbClr val="102B3A"/>
          </a:solidFill>
          <a:ln w="10160">
            <a:solidFill>
              <a:srgbClr val="10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938528"/>
            <a:ext cx="4626864" cy="32735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8AD7CF"/>
                </a:solidFill>
                <a:latin typeface="Courier New"/>
              </a:rPr>
              <a:t>raw = spark.read.parquet(input)
trips = (raw.select(...)
  .withColumn("duration_minutes", ...)
  .withColumn("pickup_hour", F.hour(...))
  .filter(validity_rules)
  .cache())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28800"/>
            <a:ext cx="5559552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2157984"/>
            <a:ext cx="18288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PROCESSING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542032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Courier New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542032"/>
            <a:ext cx="10058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Aptos"/>
              </a:rPr>
              <a:t>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542032"/>
            <a:ext cx="3200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Load Parquet columns with Spark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044952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Courier New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044952"/>
            <a:ext cx="10058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Aptos"/>
              </a:rPr>
              <a:t>Clean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044952"/>
            <a:ext cx="3200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Remove invalid distance, fare, zones, and durations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47872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Courier New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547872"/>
            <a:ext cx="10058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Aptos"/>
              </a:rPr>
              <a:t>Derive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547872"/>
            <a:ext cx="3200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Calculate duration and pickup hour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050791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Courier New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050791"/>
            <a:ext cx="10058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Aptos"/>
              </a:rPr>
              <a:t>Aggregate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050791"/>
            <a:ext cx="3200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Group by hour, route, and pickup zone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553712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Courier New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553712"/>
            <a:ext cx="10058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Aptos"/>
              </a:rPr>
              <a:t>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4553712"/>
            <a:ext cx="3200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Write compact results to MongoDB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596128"/>
            <a:ext cx="4572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97C73"/>
                </a:solidFill>
                <a:latin typeface="Aptos"/>
              </a:rPr>
              <a:t>Result: 2,868,178 valid records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596128"/>
            <a:ext cx="4937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The pipeline runs locally with master=local[*], using all available CPU cores.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4737D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37D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5029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06 · ANALYTICAL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0202C"/>
                </a:solidFill>
                <a:latin typeface="Aptos Display"/>
              </a:rPr>
              <a:t>MongoDB stores dashboard-ready collections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07592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4737D"/>
                </a:solidFill>
                <a:latin typeface="Aptos"/>
              </a:rPr>
              <a:t>The application does not scan millions of raw trip records for each page load; it reads compact aggregates instead.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47088"/>
            <a:ext cx="470916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47088"/>
            <a:ext cx="73152" cy="475488"/>
          </a:xfrm>
          <a:prstGeom prst="rect">
            <a:avLst/>
          </a:prstGeom>
          <a:solidFill>
            <a:srgbClr val="2D7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21488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Courier New"/>
              </a:rPr>
              <a:t>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965960"/>
            <a:ext cx="1600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KPI cards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05456"/>
            <a:ext cx="470916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2505456"/>
            <a:ext cx="73152" cy="475488"/>
          </a:xfrm>
          <a:prstGeom prst="rect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624328"/>
            <a:ext cx="21488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Courier New"/>
              </a:rPr>
              <a:t>hourly_demand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624328"/>
            <a:ext cx="1600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24-hour demand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163824"/>
            <a:ext cx="470916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163824"/>
            <a:ext cx="73152" cy="475488"/>
          </a:xfrm>
          <a:prstGeom prst="rect">
            <a:avLst/>
          </a:prstGeom>
          <a:solidFill>
            <a:srgbClr val="F07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282696"/>
            <a:ext cx="21488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Courier New"/>
              </a:rPr>
              <a:t>top_routes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282696"/>
            <a:ext cx="1600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Route ranking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22191"/>
            <a:ext cx="470916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3822191"/>
            <a:ext cx="73152" cy="475488"/>
          </a:xfrm>
          <a:prstGeom prst="rect">
            <a:avLst/>
          </a:prstGeom>
          <a:solidFill>
            <a:srgbClr val="876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3941063"/>
            <a:ext cx="21488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Courier New"/>
              </a:rPr>
              <a:t>zone_performance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941063"/>
            <a:ext cx="1600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Zone metrics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480560"/>
            <a:ext cx="470916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4480560"/>
            <a:ext cx="73152" cy="475488"/>
          </a:xfrm>
          <a:prstGeom prst="rect">
            <a:avLst/>
          </a:prstGeom>
          <a:solidFill>
            <a:srgbClr val="18A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4599432"/>
            <a:ext cx="21488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Courier New"/>
              </a:rPr>
              <a:t>metadata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599432"/>
            <a:ext cx="1600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Lineage + status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9320" y="1847088"/>
            <a:ext cx="5559552" cy="3767328"/>
          </a:xfrm>
          <a:prstGeom prst="roundRect">
            <a:avLst/>
          </a:prstGeom>
          <a:solidFill>
            <a:srgbClr val="102B3A"/>
          </a:solidFill>
          <a:ln w="10160">
            <a:solidFill>
              <a:srgbClr val="10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2167128"/>
            <a:ext cx="2011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8AD7CF"/>
                </a:solidFill>
                <a:latin typeface="Aptos"/>
              </a:rPr>
              <a:t>EXAMPLE DOCUMENT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2587752"/>
            <a:ext cx="4846320" cy="1993392"/>
          </a:xfrm>
          <a:prstGeom prst="roundRect">
            <a:avLst/>
          </a:prstGeom>
          <a:solidFill>
            <a:srgbClr val="102B3A"/>
          </a:solidFill>
          <a:ln w="10160">
            <a:solidFill>
              <a:srgbClr val="10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28231" y="2697480"/>
            <a:ext cx="4517136" cy="17922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8AD7CF"/>
                </a:solidFill>
                <a:latin typeface="Courier New"/>
              </a:rPr>
              <a:t>{
  "total_trips": 2868178,
  "total_revenue": 78417975.23,
  "average_fare": 18.49,
  "average_distance": 3.29,
  "average_duration": 14.97
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992624"/>
            <a:ext cx="45720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B5C9CD"/>
                </a:solidFill>
                <a:latin typeface="Aptos"/>
              </a:rPr>
              <a:t>MongoDB Compass can be used to inspect these collections during the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4737D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37D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5029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07 · BACKEND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0202C"/>
                </a:solidFill>
                <a:latin typeface="Aptos Display"/>
              </a:rPr>
              <a:t>FastAPI connects analytics to the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07592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4737D"/>
                </a:solidFill>
                <a:latin typeface="Aptos"/>
              </a:rPr>
              <a:t>The backend provides documented REST endpoints and serves the frontend from one local 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840480" cy="3749039"/>
          </a:xfrm>
          <a:prstGeom prst="roundRect">
            <a:avLst/>
          </a:prstGeom>
          <a:solidFill>
            <a:srgbClr val="102B3A"/>
          </a:solidFill>
          <a:ln w="10160">
            <a:solidFill>
              <a:srgbClr val="10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212848"/>
            <a:ext cx="1371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8AD7CF"/>
                </a:solidFill>
                <a:latin typeface="Aptos"/>
              </a:rP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51760"/>
            <a:ext cx="3108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urier New"/>
              </a:rPr>
              <a:t>http://127.0.0.1:8000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2926080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B5C9CD"/>
                </a:solidFill>
                <a:latin typeface="Aptos"/>
              </a:rPr>
              <a:t>The same service provides:
• Web dashboard at /
• Interactive API docs at /docs
• JSON endpoints under /api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874519"/>
            <a:ext cx="6656832" cy="37490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0" y="2212848"/>
            <a:ext cx="21031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REST API CONTRACT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2587752"/>
            <a:ext cx="566928" cy="484632"/>
          </a:xfrm>
          <a:prstGeom prst="roundRect">
            <a:avLst/>
          </a:prstGeom>
          <a:solidFill>
            <a:srgbClr val="DFF1ED"/>
          </a:solidFill>
          <a:ln w="10160">
            <a:solidFill>
              <a:srgbClr val="DF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85232" y="2624328"/>
            <a:ext cx="42062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197C73"/>
                </a:solidFill>
                <a:latin typeface="Aptos"/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697479"/>
            <a:ext cx="2331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Courier New"/>
              </a:rPr>
              <a:t>/api/health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697479"/>
            <a:ext cx="2011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MongoDB status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12080" y="2999232"/>
            <a:ext cx="5943600" cy="0"/>
          </a:xfrm>
          <a:prstGeom prst="line">
            <a:avLst/>
          </a:prstGeom>
          <a:ln w="889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12080" y="3090672"/>
            <a:ext cx="566928" cy="484632"/>
          </a:xfrm>
          <a:prstGeom prst="roundRect">
            <a:avLst/>
          </a:prstGeom>
          <a:solidFill>
            <a:srgbClr val="DFF1ED"/>
          </a:solidFill>
          <a:ln w="10160">
            <a:solidFill>
              <a:srgbClr val="DF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85232" y="3127248"/>
            <a:ext cx="42062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197C73"/>
                </a:solidFill>
                <a:latin typeface="Aptos"/>
              </a:rPr>
              <a:t>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3200400"/>
            <a:ext cx="2331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Courier New"/>
              </a:rPr>
              <a:t>/api/overview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200400"/>
            <a:ext cx="2011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KPI metrics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212080" y="3502152"/>
            <a:ext cx="5943600" cy="0"/>
          </a:xfrm>
          <a:prstGeom prst="line">
            <a:avLst/>
          </a:prstGeom>
          <a:ln w="889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212080" y="3593592"/>
            <a:ext cx="566928" cy="484632"/>
          </a:xfrm>
          <a:prstGeom prst="roundRect">
            <a:avLst/>
          </a:prstGeom>
          <a:solidFill>
            <a:srgbClr val="DFF1ED"/>
          </a:solidFill>
          <a:ln w="10160">
            <a:solidFill>
              <a:srgbClr val="DF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85232" y="3630168"/>
            <a:ext cx="42062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197C73"/>
                </a:solidFill>
                <a:latin typeface="Aptos"/>
              </a:rPr>
              <a:t>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3703320"/>
            <a:ext cx="2331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Courier New"/>
              </a:rPr>
              <a:t>/api/hourly-demand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703320"/>
            <a:ext cx="2011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Hourly chart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212080" y="4005072"/>
            <a:ext cx="5943600" cy="0"/>
          </a:xfrm>
          <a:prstGeom prst="line">
            <a:avLst/>
          </a:prstGeom>
          <a:ln w="889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212080" y="4096511"/>
            <a:ext cx="566928" cy="484632"/>
          </a:xfrm>
          <a:prstGeom prst="roundRect">
            <a:avLst/>
          </a:prstGeom>
          <a:solidFill>
            <a:srgbClr val="DFF1ED"/>
          </a:solidFill>
          <a:ln w="10160">
            <a:solidFill>
              <a:srgbClr val="DF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85232" y="4133087"/>
            <a:ext cx="42062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197C73"/>
                </a:solidFill>
                <a:latin typeface="Aptos"/>
              </a:rPr>
              <a:t>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4206240"/>
            <a:ext cx="2331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Courier New"/>
              </a:rPr>
              <a:t>/api/top-routes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4206240"/>
            <a:ext cx="2011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Route table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212080" y="4507992"/>
            <a:ext cx="5943600" cy="0"/>
          </a:xfrm>
          <a:prstGeom prst="line">
            <a:avLst/>
          </a:prstGeom>
          <a:ln w="889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212080" y="4599432"/>
            <a:ext cx="566928" cy="484632"/>
          </a:xfrm>
          <a:prstGeom prst="roundRect">
            <a:avLst/>
          </a:prstGeom>
          <a:solidFill>
            <a:srgbClr val="DFF1ED"/>
          </a:solidFill>
          <a:ln w="10160">
            <a:solidFill>
              <a:srgbClr val="DF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85232" y="4636008"/>
            <a:ext cx="42062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197C73"/>
                </a:solidFill>
                <a:latin typeface="Aptos"/>
              </a:rPr>
              <a:t>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4709160"/>
            <a:ext cx="2331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Courier New"/>
              </a:rPr>
              <a:t>/api/zone-performance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4709160"/>
            <a:ext cx="2011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Zone chart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212080" y="5010912"/>
            <a:ext cx="5943600" cy="0"/>
          </a:xfrm>
          <a:prstGeom prst="line">
            <a:avLst/>
          </a:prstGeom>
          <a:ln w="889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4737D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37D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5029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08 ·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0202C"/>
                </a:solidFill>
                <a:latin typeface="Aptos Display"/>
              </a:rPr>
              <a:t>A presentation-ready analytics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07592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4737D"/>
                </a:solidFill>
                <a:latin typeface="Aptos"/>
              </a:rPr>
              <a:t>The browser fetches JSON from FastAPI and turns it into KPI cards, charts, and a route ranking 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10991088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783080"/>
            <a:ext cx="10991088" cy="530352"/>
          </a:xfrm>
          <a:prstGeom prst="rect">
            <a:avLst/>
          </a:prstGeom>
          <a:solidFill>
            <a:srgbClr val="10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956816"/>
            <a:ext cx="3657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URBAN MOBILITY 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1874519"/>
            <a:ext cx="1691640" cy="484632"/>
          </a:xfrm>
          <a:prstGeom prst="roundRect">
            <a:avLst/>
          </a:prstGeom>
          <a:solidFill>
            <a:srgbClr val="DFF1ED"/>
          </a:solidFill>
          <a:ln w="10160">
            <a:solidFill>
              <a:srgbClr val="DF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37192" y="1911095"/>
            <a:ext cx="1545336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197C73"/>
                </a:solidFill>
                <a:latin typeface="Aptos"/>
              </a:rPr>
              <a:t>MongoDB connected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2633472"/>
            <a:ext cx="2331720" cy="804672"/>
          </a:xfrm>
          <a:prstGeom prst="roundRect">
            <a:avLst/>
          </a:prstGeom>
          <a:solidFill>
            <a:srgbClr val="F6F9F8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" y="2633472"/>
            <a:ext cx="45720" cy="804672"/>
          </a:xfrm>
          <a:prstGeom prst="rect">
            <a:avLst/>
          </a:prstGeom>
          <a:solidFill>
            <a:srgbClr val="2D7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0704" y="2798064"/>
            <a:ext cx="1920240" cy="118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64737D"/>
                </a:solidFill>
                <a:latin typeface="Aptos"/>
              </a:rPr>
              <a:t>TOTAL TRIPS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3008376"/>
            <a:ext cx="1920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0202C"/>
                </a:solidFill>
                <a:latin typeface="Aptos"/>
              </a:rPr>
              <a:t>2.87M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47872" y="2633472"/>
            <a:ext cx="2331720" cy="804672"/>
          </a:xfrm>
          <a:prstGeom prst="roundRect">
            <a:avLst/>
          </a:prstGeom>
          <a:solidFill>
            <a:srgbClr val="F6F9F8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547872" y="2633472"/>
            <a:ext cx="45720" cy="804672"/>
          </a:xfrm>
          <a:prstGeom prst="rect">
            <a:avLst/>
          </a:prstGeom>
          <a:solidFill>
            <a:srgbClr val="F07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12463" y="2798064"/>
            <a:ext cx="1920240" cy="118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64737D"/>
                </a:solidFill>
                <a:latin typeface="Aptos"/>
              </a:rPr>
              <a:t>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2463" y="3008376"/>
            <a:ext cx="1920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0202C"/>
                </a:solidFill>
                <a:latin typeface="Aptos"/>
              </a:rPr>
              <a:t>$78.42M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1" y="2633472"/>
            <a:ext cx="2331720" cy="804672"/>
          </a:xfrm>
          <a:prstGeom prst="roundRect">
            <a:avLst/>
          </a:prstGeom>
          <a:solidFill>
            <a:srgbClr val="F6F9F8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1" y="2633472"/>
            <a:ext cx="45720" cy="804672"/>
          </a:xfrm>
          <a:prstGeom prst="rect">
            <a:avLst/>
          </a:prstGeom>
          <a:solidFill>
            <a:srgbClr val="18A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64223" y="2798064"/>
            <a:ext cx="1920240" cy="118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64737D"/>
                </a:solidFill>
                <a:latin typeface="Aptos"/>
              </a:rPr>
              <a:t>AVG FARE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3" y="3008376"/>
            <a:ext cx="1920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0202C"/>
                </a:solidFill>
                <a:latin typeface="Aptos"/>
              </a:rPr>
              <a:t>$18.49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51392" y="2633472"/>
            <a:ext cx="2331720" cy="804672"/>
          </a:xfrm>
          <a:prstGeom prst="roundRect">
            <a:avLst/>
          </a:prstGeom>
          <a:solidFill>
            <a:srgbClr val="F6F9F8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851392" y="2633472"/>
            <a:ext cx="45720" cy="804672"/>
          </a:xfrm>
          <a:prstGeom prst="rect">
            <a:avLst/>
          </a:prstGeom>
          <a:solidFill>
            <a:srgbClr val="876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15984" y="2798064"/>
            <a:ext cx="1920240" cy="118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64737D"/>
                </a:solidFill>
                <a:latin typeface="Aptos"/>
              </a:rPr>
              <a:t>AVG DISTANCE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5984" y="3008376"/>
            <a:ext cx="1920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0202C"/>
                </a:solidFill>
                <a:latin typeface="Aptos"/>
              </a:rPr>
              <a:t>3.29 mi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858768"/>
            <a:ext cx="21945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0202C"/>
                </a:solidFill>
                <a:latin typeface="Aptos"/>
              </a:rPr>
              <a:t>Trips by pickup hour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307592" y="4242816"/>
            <a:ext cx="0" cy="777239"/>
          </a:xfrm>
          <a:prstGeom prst="line">
            <a:avLst/>
          </a:prstGeom>
          <a:ln w="1270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307592" y="5020055"/>
            <a:ext cx="4453128" cy="0"/>
          </a:xfrm>
          <a:prstGeom prst="line">
            <a:avLst/>
          </a:prstGeom>
          <a:ln w="1270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307592" y="4780025"/>
            <a:ext cx="193614" cy="51436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501206" y="4831461"/>
            <a:ext cx="193614" cy="34289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694820" y="4865750"/>
            <a:ext cx="193614" cy="25718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888434" y="4891468"/>
            <a:ext cx="193615" cy="8573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082049" y="4831461"/>
            <a:ext cx="193614" cy="68580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275663" y="4720018"/>
            <a:ext cx="193614" cy="111443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469277" y="4608575"/>
            <a:ext cx="193614" cy="111443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662891" y="4548568"/>
            <a:ext cx="193615" cy="60007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856506" y="4548568"/>
            <a:ext cx="193614" cy="42862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050120" y="4591430"/>
            <a:ext cx="193614" cy="68581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243734" y="4660011"/>
            <a:ext cx="193614" cy="42862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437348" y="4702873"/>
            <a:ext cx="193615" cy="25718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630963" y="4728591"/>
            <a:ext cx="193614" cy="17145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824577" y="4745736"/>
            <a:ext cx="193614" cy="8572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018191" y="4720018"/>
            <a:ext cx="193614" cy="34290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211805" y="4651438"/>
            <a:ext cx="193615" cy="68580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405420" y="4531423"/>
            <a:ext cx="193614" cy="120015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599034" y="4471416"/>
            <a:ext cx="193614" cy="60007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92648" y="4471416"/>
            <a:ext cx="193614" cy="34289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86262" y="4505705"/>
            <a:ext cx="193615" cy="77153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179877" y="4582858"/>
            <a:ext cx="193614" cy="60008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373491" y="4642866"/>
            <a:ext cx="193614" cy="42862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567105" y="4685728"/>
            <a:ext cx="193615" cy="51435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1266444" y="4738877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124712" y="5065775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00</a:t>
            </a:r>
          </a:p>
        </p:txBody>
      </p:sp>
      <p:sp>
        <p:nvSpPr>
          <p:cNvPr id="57" name="Oval 56"/>
          <p:cNvSpPr/>
          <p:nvPr/>
        </p:nvSpPr>
        <p:spPr>
          <a:xfrm>
            <a:off x="1460058" y="4790313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653672" y="4824602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847286" y="4850320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705554" y="5065775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03</a:t>
            </a:r>
          </a:p>
        </p:txBody>
      </p:sp>
      <p:sp>
        <p:nvSpPr>
          <p:cNvPr id="61" name="Oval 60"/>
          <p:cNvSpPr/>
          <p:nvPr/>
        </p:nvSpPr>
        <p:spPr>
          <a:xfrm>
            <a:off x="2040901" y="4858893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2234515" y="4790313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2428129" y="4678870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286397" y="5065775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06</a:t>
            </a:r>
          </a:p>
        </p:txBody>
      </p:sp>
      <p:sp>
        <p:nvSpPr>
          <p:cNvPr id="65" name="Oval 64"/>
          <p:cNvSpPr/>
          <p:nvPr/>
        </p:nvSpPr>
        <p:spPr>
          <a:xfrm>
            <a:off x="2621743" y="4567427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2815358" y="4507420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3008972" y="4550282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867240" y="5065775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09</a:t>
            </a:r>
          </a:p>
        </p:txBody>
      </p:sp>
      <p:sp>
        <p:nvSpPr>
          <p:cNvPr id="69" name="Oval 68"/>
          <p:cNvSpPr/>
          <p:nvPr/>
        </p:nvSpPr>
        <p:spPr>
          <a:xfrm>
            <a:off x="3202586" y="4618863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3396200" y="4661725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3589815" y="4687443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448083" y="5065775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12</a:t>
            </a:r>
          </a:p>
        </p:txBody>
      </p:sp>
      <p:sp>
        <p:nvSpPr>
          <p:cNvPr id="73" name="Oval 72"/>
          <p:cNvSpPr/>
          <p:nvPr/>
        </p:nvSpPr>
        <p:spPr>
          <a:xfrm>
            <a:off x="3783429" y="4704588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3977043" y="4713160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835311" y="5065775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15</a:t>
            </a:r>
          </a:p>
        </p:txBody>
      </p:sp>
      <p:sp>
        <p:nvSpPr>
          <p:cNvPr id="76" name="Oval 75"/>
          <p:cNvSpPr/>
          <p:nvPr/>
        </p:nvSpPr>
        <p:spPr>
          <a:xfrm>
            <a:off x="4170657" y="4678870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4364272" y="4610290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4557886" y="4490275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416154" y="5065775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18</a:t>
            </a:r>
          </a:p>
        </p:txBody>
      </p:sp>
      <p:sp>
        <p:nvSpPr>
          <p:cNvPr id="80" name="Oval 79"/>
          <p:cNvSpPr/>
          <p:nvPr/>
        </p:nvSpPr>
        <p:spPr>
          <a:xfrm>
            <a:off x="4751500" y="4430268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4945114" y="4464557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5138729" y="4541710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996997" y="5065775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21</a:t>
            </a:r>
          </a:p>
        </p:txBody>
      </p:sp>
      <p:sp>
        <p:nvSpPr>
          <p:cNvPr id="84" name="Oval 83"/>
          <p:cNvSpPr/>
          <p:nvPr/>
        </p:nvSpPr>
        <p:spPr>
          <a:xfrm>
            <a:off x="5332343" y="4601718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5525957" y="4644580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5719572" y="4696015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577840" y="5065775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23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26480" y="3858768"/>
            <a:ext cx="18288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0202C"/>
                </a:solidFill>
                <a:latin typeface="Aptos"/>
              </a:rPr>
              <a:t>Busiest zones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464808" y="4187952"/>
            <a:ext cx="0" cy="886968"/>
          </a:xfrm>
          <a:prstGeom prst="line">
            <a:avLst/>
          </a:prstGeom>
          <a:ln w="1270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464808" y="5074920"/>
            <a:ext cx="4690872" cy="0"/>
          </a:xfrm>
          <a:prstGeom prst="line">
            <a:avLst/>
          </a:prstGeom>
          <a:ln w="1270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6694932" y="4270248"/>
            <a:ext cx="472440" cy="804672"/>
          </a:xfrm>
          <a:prstGeom prst="roundRect">
            <a:avLst/>
          </a:prstGeom>
          <a:solidFill>
            <a:srgbClr val="18A878"/>
          </a:solidFill>
          <a:ln w="10160">
            <a:solidFill>
              <a:srgbClr val="18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658356" y="5138928"/>
            <a:ext cx="54559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132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456932" y="4321610"/>
            <a:ext cx="472440" cy="753309"/>
          </a:xfrm>
          <a:prstGeom prst="roundRect">
            <a:avLst/>
          </a:prstGeom>
          <a:solidFill>
            <a:srgbClr val="18A878"/>
          </a:solidFill>
          <a:ln w="10160">
            <a:solidFill>
              <a:srgbClr val="18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420356" y="5138928"/>
            <a:ext cx="54559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138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218932" y="4424334"/>
            <a:ext cx="472440" cy="650585"/>
          </a:xfrm>
          <a:prstGeom prst="roundRect">
            <a:avLst/>
          </a:prstGeom>
          <a:solidFill>
            <a:srgbClr val="18A878"/>
          </a:solidFill>
          <a:ln w="10160">
            <a:solidFill>
              <a:srgbClr val="18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182356" y="5138928"/>
            <a:ext cx="54559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161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980932" y="4475696"/>
            <a:ext cx="472440" cy="599223"/>
          </a:xfrm>
          <a:prstGeom prst="roundRect">
            <a:avLst/>
          </a:prstGeom>
          <a:solidFill>
            <a:srgbClr val="18A878"/>
          </a:solidFill>
          <a:ln w="10160">
            <a:solidFill>
              <a:srgbClr val="18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944356" y="5138928"/>
            <a:ext cx="54559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237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742932" y="4518497"/>
            <a:ext cx="472440" cy="556422"/>
          </a:xfrm>
          <a:prstGeom prst="roundRect">
            <a:avLst/>
          </a:prstGeom>
          <a:solidFill>
            <a:srgbClr val="18A878"/>
          </a:solidFill>
          <a:ln w="10160">
            <a:solidFill>
              <a:srgbClr val="18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9706356" y="5138928"/>
            <a:ext cx="54559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170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0504932" y="4544178"/>
            <a:ext cx="472440" cy="530741"/>
          </a:xfrm>
          <a:prstGeom prst="roundRect">
            <a:avLst/>
          </a:prstGeom>
          <a:solidFill>
            <a:srgbClr val="18A878"/>
          </a:solidFill>
          <a:ln w="10160">
            <a:solidFill>
              <a:srgbClr val="18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0468356" y="5138928"/>
            <a:ext cx="54559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234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492240" y="4114800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64737D"/>
                </a:solidFill>
                <a:latin typeface="Aptos"/>
              </a:rPr>
              <a:t>trips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4737D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37D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5029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09 ·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0202C"/>
                </a:solidFill>
                <a:latin typeface="Aptos Display"/>
              </a:rPr>
              <a:t>What the processed data tells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07592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4737D"/>
                </a:solidFill>
                <a:latin typeface="Aptos"/>
              </a:rPr>
              <a:t>The January 2024 results show clear demand patterns and provide a compact analytical view for decision-making.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212080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103120"/>
            <a:ext cx="2560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HOURLY DEMAND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395728"/>
            <a:ext cx="43434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0202C"/>
                </a:solidFill>
                <a:latin typeface="Aptos"/>
              </a:rPr>
              <a:t>Demand rises through the day and is strongest in the evening period.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99032" y="3081528"/>
            <a:ext cx="0" cy="1600200"/>
          </a:xfrm>
          <a:prstGeom prst="line">
            <a:avLst/>
          </a:prstGeom>
          <a:ln w="1270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99032" y="4681728"/>
            <a:ext cx="4041648" cy="0"/>
          </a:xfrm>
          <a:prstGeom prst="line">
            <a:avLst/>
          </a:prstGeom>
          <a:ln w="1270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99032" y="4137442"/>
            <a:ext cx="175723" cy="152400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574755" y="4289842"/>
            <a:ext cx="175724" cy="87086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50479" y="4376928"/>
            <a:ext cx="175724" cy="43542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926203" y="4398699"/>
            <a:ext cx="175724" cy="21771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101927" y="4268070"/>
            <a:ext cx="175724" cy="130629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277651" y="4006813"/>
            <a:ext cx="175723" cy="261257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453374" y="3702013"/>
            <a:ext cx="175724" cy="304800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629098" y="3527842"/>
            <a:ext cx="175724" cy="174171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804822" y="3527842"/>
            <a:ext cx="175724" cy="108857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980546" y="3636699"/>
            <a:ext cx="175724" cy="174171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156270" y="3810870"/>
            <a:ext cx="175724" cy="108858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331994" y="3919728"/>
            <a:ext cx="175723" cy="43542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507717" y="3963270"/>
            <a:ext cx="175724" cy="43543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83441" y="4006813"/>
            <a:ext cx="175724" cy="21772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859165" y="3941499"/>
            <a:ext cx="175724" cy="87086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034889" y="3767328"/>
            <a:ext cx="175724" cy="174171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210613" y="3484299"/>
            <a:ext cx="175724" cy="283029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386337" y="3310128"/>
            <a:ext cx="175723" cy="174171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62060" y="3310128"/>
            <a:ext cx="175724" cy="87085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737784" y="3397213"/>
            <a:ext cx="175724" cy="195943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913508" y="3593156"/>
            <a:ext cx="175724" cy="152400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089232" y="3745556"/>
            <a:ext cx="175724" cy="108857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264956" y="3854413"/>
            <a:ext cx="175724" cy="152400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357884" y="4096294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16152" y="4727448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00</a:t>
            </a:r>
          </a:p>
        </p:txBody>
      </p:sp>
      <p:sp>
        <p:nvSpPr>
          <p:cNvPr id="38" name="Oval 37"/>
          <p:cNvSpPr/>
          <p:nvPr/>
        </p:nvSpPr>
        <p:spPr>
          <a:xfrm>
            <a:off x="1533607" y="4248694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709331" y="4335780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885055" y="4379322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743323" y="4727448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03</a:t>
            </a:r>
          </a:p>
        </p:txBody>
      </p:sp>
      <p:sp>
        <p:nvSpPr>
          <p:cNvPr id="42" name="Oval 41"/>
          <p:cNvSpPr/>
          <p:nvPr/>
        </p:nvSpPr>
        <p:spPr>
          <a:xfrm>
            <a:off x="2060779" y="4357551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2236503" y="4226922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412226" y="3965665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270494" y="4727448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06</a:t>
            </a:r>
          </a:p>
        </p:txBody>
      </p:sp>
      <p:sp>
        <p:nvSpPr>
          <p:cNvPr id="46" name="Oval 45"/>
          <p:cNvSpPr/>
          <p:nvPr/>
        </p:nvSpPr>
        <p:spPr>
          <a:xfrm>
            <a:off x="2587950" y="3660865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2763674" y="3486694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2939398" y="3595551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797666" y="4727448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09</a:t>
            </a:r>
          </a:p>
        </p:txBody>
      </p:sp>
      <p:sp>
        <p:nvSpPr>
          <p:cNvPr id="50" name="Oval 49"/>
          <p:cNvSpPr/>
          <p:nvPr/>
        </p:nvSpPr>
        <p:spPr>
          <a:xfrm>
            <a:off x="3115122" y="3769722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3290846" y="3878580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3466569" y="3922122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324837" y="4727448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12</a:t>
            </a:r>
          </a:p>
        </p:txBody>
      </p:sp>
      <p:sp>
        <p:nvSpPr>
          <p:cNvPr id="54" name="Oval 53"/>
          <p:cNvSpPr/>
          <p:nvPr/>
        </p:nvSpPr>
        <p:spPr>
          <a:xfrm>
            <a:off x="3642293" y="3965665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3818017" y="3987437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76285" y="4727448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15</a:t>
            </a:r>
          </a:p>
        </p:txBody>
      </p:sp>
      <p:sp>
        <p:nvSpPr>
          <p:cNvPr id="57" name="Oval 56"/>
          <p:cNvSpPr/>
          <p:nvPr/>
        </p:nvSpPr>
        <p:spPr>
          <a:xfrm>
            <a:off x="3993741" y="3900351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4169465" y="3726180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4345189" y="3443151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203457" y="4727448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18</a:t>
            </a:r>
          </a:p>
        </p:txBody>
      </p:sp>
      <p:sp>
        <p:nvSpPr>
          <p:cNvPr id="61" name="Oval 60"/>
          <p:cNvSpPr/>
          <p:nvPr/>
        </p:nvSpPr>
        <p:spPr>
          <a:xfrm>
            <a:off x="4520912" y="3268980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4696636" y="3356065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4872360" y="3552008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730628" y="4727448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21</a:t>
            </a:r>
          </a:p>
        </p:txBody>
      </p:sp>
      <p:sp>
        <p:nvSpPr>
          <p:cNvPr id="65" name="Oval 64"/>
          <p:cNvSpPr/>
          <p:nvPr/>
        </p:nvSpPr>
        <p:spPr>
          <a:xfrm>
            <a:off x="5048084" y="3704408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5223808" y="3813265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5399532" y="3965665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57800" y="4727448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23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126480" y="1783080"/>
            <a:ext cx="5413248" cy="3886200"/>
          </a:xfrm>
          <a:prstGeom prst="roundRect">
            <a:avLst/>
          </a:prstGeom>
          <a:solidFill>
            <a:srgbClr val="DFF1ED"/>
          </a:solidFill>
          <a:ln w="10160">
            <a:solidFill>
              <a:srgbClr val="DF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28232" y="2103120"/>
            <a:ext cx="18288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KEY FINDINGS</a:t>
            </a:r>
          </a:p>
        </p:txBody>
      </p:sp>
      <p:sp>
        <p:nvSpPr>
          <p:cNvPr id="71" name="Oval 70"/>
          <p:cNvSpPr/>
          <p:nvPr/>
        </p:nvSpPr>
        <p:spPr>
          <a:xfrm>
            <a:off x="6428232" y="2624328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629400" y="2514600"/>
            <a:ext cx="4370832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202C"/>
                </a:solidFill>
                <a:latin typeface="Aptos"/>
              </a:rPr>
              <a:t>2.87M trips remained after quality filtering.</a:t>
            </a:r>
          </a:p>
        </p:txBody>
      </p:sp>
      <p:sp>
        <p:nvSpPr>
          <p:cNvPr id="73" name="Oval 72"/>
          <p:cNvSpPr/>
          <p:nvPr/>
        </p:nvSpPr>
        <p:spPr>
          <a:xfrm>
            <a:off x="6428232" y="3127248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629400" y="3017520"/>
            <a:ext cx="4370832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202C"/>
                </a:solidFill>
                <a:latin typeface="Aptos"/>
              </a:rPr>
              <a:t>$78.42M in total trip revenue was aggregated.</a:t>
            </a:r>
          </a:p>
        </p:txBody>
      </p:sp>
      <p:sp>
        <p:nvSpPr>
          <p:cNvPr id="75" name="Oval 74"/>
          <p:cNvSpPr/>
          <p:nvPr/>
        </p:nvSpPr>
        <p:spPr>
          <a:xfrm>
            <a:off x="6428232" y="3630168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629400" y="3520440"/>
            <a:ext cx="4370832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202C"/>
                </a:solidFill>
                <a:latin typeface="Aptos"/>
              </a:rPr>
              <a:t>Average trip duration was 14.97 minutes.</a:t>
            </a:r>
          </a:p>
        </p:txBody>
      </p:sp>
      <p:sp>
        <p:nvSpPr>
          <p:cNvPr id="77" name="Oval 76"/>
          <p:cNvSpPr/>
          <p:nvPr/>
        </p:nvSpPr>
        <p:spPr>
          <a:xfrm>
            <a:off x="6428232" y="4133088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629400" y="4023360"/>
            <a:ext cx="4370832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202C"/>
                </a:solidFill>
                <a:latin typeface="Aptos"/>
              </a:rPr>
              <a:t>Zone 132 was the busiest pickup area in the result set.</a:t>
            </a:r>
          </a:p>
        </p:txBody>
      </p:sp>
      <p:sp>
        <p:nvSpPr>
          <p:cNvPr id="79" name="Oval 78"/>
          <p:cNvSpPr/>
          <p:nvPr/>
        </p:nvSpPr>
        <p:spPr>
          <a:xfrm>
            <a:off x="6428232" y="4636008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629400" y="4526280"/>
            <a:ext cx="4370832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202C"/>
                </a:solidFill>
                <a:latin typeface="Aptos"/>
              </a:rPr>
              <a:t>Route and hourly aggregates are ready for repeated API queries.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4737D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37D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5029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11 · ENGINEERING LESSONS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0202C"/>
                </a:solidFill>
                <a:latin typeface="Aptos Display"/>
              </a:rPr>
              <a:t>Challenges solved during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07592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4737D"/>
                </a:solidFill>
                <a:latin typeface="Aptos"/>
              </a:rPr>
              <a:t>The final system is reproducible because the data-quality and platform issues were handled in code and documented.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21945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07844"/>
                </a:solidFill>
                <a:latin typeface="Aptos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874519"/>
            <a:ext cx="21945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SOLUTION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267712"/>
            <a:ext cx="45720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0" y="2267712"/>
            <a:ext cx="5806440" cy="457200"/>
          </a:xfrm>
          <a:prstGeom prst="roundRect">
            <a:avLst/>
          </a:prstGeom>
          <a:solidFill>
            <a:srgbClr val="DFF1ED"/>
          </a:solidFill>
          <a:ln w="10160">
            <a:solidFill>
              <a:srgbClr val="DF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386584"/>
            <a:ext cx="41148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0202C"/>
                </a:solidFill>
                <a:latin typeface="Aptos"/>
              </a:rPr>
              <a:t>Timestamp type mismatch in Spark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6168" y="2386584"/>
            <a:ext cx="5303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0202C"/>
                </a:solidFill>
                <a:latin typeface="Aptos"/>
              </a:rPr>
              <a:t>Used Spark unix_timestamp() for TIMESTAMP_NTZ values.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89504"/>
            <a:ext cx="45720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669280" y="2889504"/>
            <a:ext cx="5806440" cy="457200"/>
          </a:xfrm>
          <a:prstGeom prst="roundRect">
            <a:avLst/>
          </a:prstGeom>
          <a:solidFill>
            <a:srgbClr val="DFF1ED"/>
          </a:solidFill>
          <a:ln w="10160">
            <a:solidFill>
              <a:srgbClr val="DF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008376"/>
            <a:ext cx="41148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0202C"/>
                </a:solidFill>
                <a:latin typeface="Aptos"/>
              </a:rPr>
              <a:t>Malformed historical timestamp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6168" y="3008376"/>
            <a:ext cx="5303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0202C"/>
                </a:solidFill>
                <a:latin typeface="Aptos"/>
              </a:rPr>
              <a:t>Added a year-quality filter before computing metrics.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11296"/>
            <a:ext cx="45720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669280" y="3511296"/>
            <a:ext cx="5806440" cy="457200"/>
          </a:xfrm>
          <a:prstGeom prst="roundRect">
            <a:avLst/>
          </a:prstGeom>
          <a:solidFill>
            <a:srgbClr val="DFF1ED"/>
          </a:solidFill>
          <a:ln w="10160">
            <a:solidFill>
              <a:srgbClr val="DF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630168"/>
            <a:ext cx="41148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0202C"/>
                </a:solidFill>
                <a:latin typeface="Aptos"/>
              </a:rPr>
              <a:t>Large raw file for web requests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16168" y="3630168"/>
            <a:ext cx="5303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0202C"/>
                </a:solidFill>
                <a:latin typeface="Aptos"/>
              </a:rPr>
              <a:t>Precomputed aggregates and stored them in MongoDB.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33087"/>
            <a:ext cx="45720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669280" y="4133087"/>
            <a:ext cx="5806440" cy="457200"/>
          </a:xfrm>
          <a:prstGeom prst="roundRect">
            <a:avLst/>
          </a:prstGeom>
          <a:solidFill>
            <a:srgbClr val="DFF1ED"/>
          </a:solidFill>
          <a:ln w="10160">
            <a:solidFill>
              <a:srgbClr val="DF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251959"/>
            <a:ext cx="41148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0202C"/>
                </a:solidFill>
                <a:latin typeface="Aptos"/>
              </a:rPr>
              <a:t>Need for an immediate presentation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16168" y="4251959"/>
            <a:ext cx="5303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0202C"/>
                </a:solidFill>
                <a:latin typeface="Aptos"/>
              </a:rPr>
              <a:t>Added seed_demo.py, then replaced demo data with real Spark output.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754880"/>
            <a:ext cx="45720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669280" y="4754880"/>
            <a:ext cx="5806440" cy="457200"/>
          </a:xfrm>
          <a:prstGeom prst="roundRect">
            <a:avLst/>
          </a:prstGeom>
          <a:solidFill>
            <a:srgbClr val="DFF1ED"/>
          </a:solidFill>
          <a:ln w="10160">
            <a:solidFill>
              <a:srgbClr val="DF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873752"/>
            <a:ext cx="41148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0202C"/>
                </a:solidFill>
                <a:latin typeface="Aptos"/>
              </a:rPr>
              <a:t>Local Windows Spark warnings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16168" y="4873752"/>
            <a:ext cx="5303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0202C"/>
                </a:solidFill>
                <a:latin typeface="Aptos"/>
              </a:rPr>
              <a:t>Warnings about winutils/native Hadoop libraries were non-blocking; job completed.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4737D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37D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5029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12 ·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0202C"/>
                </a:solidFill>
                <a:latin typeface="Aptos Display"/>
              </a:rPr>
              <a:t>How this project can grow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07592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4737D"/>
                </a:solidFill>
                <a:latin typeface="Aptos"/>
              </a:rPr>
              <a:t>The current system is a strong batch analytics foundation for more advanced big data features.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01952"/>
            <a:ext cx="49834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130552"/>
            <a:ext cx="594360" cy="594360"/>
          </a:xfrm>
          <a:prstGeom prst="ellipse">
            <a:avLst/>
          </a:prstGeom>
          <a:solidFill>
            <a:srgbClr val="197C73"/>
          </a:solidFill>
          <a:ln w="10160">
            <a:solidFill>
              <a:srgbClr val="19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322576"/>
            <a:ext cx="594360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urier New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21408"/>
            <a:ext cx="35661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0202C"/>
                </a:solidFill>
                <a:latin typeface="Aptos"/>
              </a:rPr>
              <a:t>Zone names + maps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59736"/>
            <a:ext cx="3566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Join taxi zone lookup data and add a geographic heatmap.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01952"/>
            <a:ext cx="49834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46520" y="2130552"/>
            <a:ext cx="594360" cy="594360"/>
          </a:xfrm>
          <a:prstGeom prst="ellipse">
            <a:avLst/>
          </a:prstGeom>
          <a:solidFill>
            <a:srgbClr val="197C73"/>
          </a:solidFill>
          <a:ln w="10160">
            <a:solidFill>
              <a:srgbClr val="19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322576"/>
            <a:ext cx="594360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urier New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121408"/>
            <a:ext cx="35661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0202C"/>
                </a:solidFill>
                <a:latin typeface="Aptos"/>
              </a:rPr>
              <a:t>Spark 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79" y="2459736"/>
            <a:ext cx="3566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Predict fare or trip duration from distance, hour, and zone.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83280"/>
            <a:ext cx="49834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4400" y="3611880"/>
            <a:ext cx="594360" cy="594360"/>
          </a:xfrm>
          <a:prstGeom prst="ellipse">
            <a:avLst/>
          </a:prstGeom>
          <a:solidFill>
            <a:srgbClr val="197C73"/>
          </a:solidFill>
          <a:ln w="10160">
            <a:solidFill>
              <a:srgbClr val="19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803904"/>
            <a:ext cx="594360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urier New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602736"/>
            <a:ext cx="35661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0202C"/>
                </a:solidFill>
                <a:latin typeface="Aptos"/>
              </a:rPr>
              <a:t>Streaming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941064"/>
            <a:ext cx="3566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Use Kafka or Spark Structured Streaming for live demand.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383280"/>
            <a:ext cx="49834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46520" y="3611880"/>
            <a:ext cx="594360" cy="594360"/>
          </a:xfrm>
          <a:prstGeom prst="ellipse">
            <a:avLst/>
          </a:prstGeom>
          <a:solidFill>
            <a:srgbClr val="197C73"/>
          </a:solidFill>
          <a:ln w="10160">
            <a:solidFill>
              <a:srgbClr val="19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3803904"/>
            <a:ext cx="594360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urier New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79" y="3602736"/>
            <a:ext cx="35661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0202C"/>
                </a:solidFill>
                <a:latin typeface="Aptos"/>
              </a:rPr>
              <a:t>More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79" y="3941064"/>
            <a:ext cx="3566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Add weather, holidays, events, and traffic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45920" y="5212080"/>
            <a:ext cx="8869680" cy="502920"/>
          </a:xfrm>
          <a:prstGeom prst="roundRect">
            <a:avLst/>
          </a:prstGeom>
          <a:solidFill>
            <a:srgbClr val="102B3A"/>
          </a:solidFill>
          <a:ln w="10160">
            <a:solidFill>
              <a:srgbClr val="10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28800" y="5367528"/>
            <a:ext cx="8503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8AD7CF"/>
                </a:solidFill>
                <a:latin typeface="Aptos Display"/>
              </a:rPr>
              <a:t>Batch analytics today → intelligent urban mobility platform tomorrow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8AD7CF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8AD7CF"/>
                </a:solidFill>
                <a:latin typeface="Apto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5029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8AD7CF"/>
                </a:solidFill>
                <a:latin typeface="Aptos"/>
              </a:rPr>
              <a:t>13 ·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A complete big data analytics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07592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B5C9CD"/>
                </a:solidFill>
                <a:latin typeface="Aptos"/>
              </a:rPr>
              <a:t>The project combines distributed computing, NoSQL storage, backend engineering, and frontend communication.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10835640" cy="2331720"/>
          </a:xfrm>
          <a:prstGeom prst="roundRect">
            <a:avLst/>
          </a:prstGeom>
          <a:solidFill>
            <a:srgbClr val="1C3E4C"/>
          </a:solidFill>
          <a:ln w="10160">
            <a:solidFill>
              <a:srgbClr val="2E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51560" y="2441448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52728" y="2331720"/>
            <a:ext cx="9582911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tos"/>
              </a:rPr>
              <a:t>Apache Spark processed and cleaned 2.87 million taxi trips.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825496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52728" y="2715768"/>
            <a:ext cx="9582911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tos"/>
              </a:rPr>
              <a:t>MongoDB stores reusable, dashboard-ready analytical collections.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3209544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52728" y="3099815"/>
            <a:ext cx="9582911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tos"/>
              </a:rPr>
              <a:t>FastAPI exposes the results through a clean REST interface.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3593591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52728" y="3483863"/>
            <a:ext cx="9582911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tos"/>
              </a:rPr>
              <a:t>The dashboard makes demand, revenue, zones, and routes easy to explain.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956048"/>
            <a:ext cx="36576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400" b="1" i="0">
                <a:solidFill>
                  <a:srgbClr val="8AD7CF"/>
                </a:solidFill>
                <a:latin typeface="Aptos Display"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577840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B5C9CD"/>
                </a:solidFill>
                <a:latin typeface="Aptos"/>
              </a:rPr>
              <a:t>Questions?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5577840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200" b="1" i="0">
                <a:solidFill>
                  <a:srgbClr val="8AD7CF"/>
                </a:solidFill>
                <a:latin typeface="Aptos"/>
              </a:rPr>
              <a:t>Jash Parekh · 23BIT033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4737D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37D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5029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14 ·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0202C"/>
                </a:solidFill>
                <a:latin typeface="Aptos Display"/>
              </a:rPr>
              <a:t>Run commands and project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07592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4737D"/>
                </a:solidFill>
                <a:latin typeface="Aptos"/>
              </a:rPr>
              <a:t>Use these commands during a technical demonstration or to reproduce the result on another machine.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486400" cy="3154680"/>
          </a:xfrm>
          <a:prstGeom prst="roundRect">
            <a:avLst/>
          </a:prstGeom>
          <a:solidFill>
            <a:srgbClr val="102B3A"/>
          </a:solidFill>
          <a:ln w="10160">
            <a:solidFill>
              <a:srgbClr val="10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938528"/>
            <a:ext cx="5157216" cy="2953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8AD7CF"/>
                </a:solidFill>
                <a:latin typeface="Courier New"/>
              </a:rPr>
              <a:t>cd big-data-taxi-analytics
.venv\Scripts\Activate.ps1
python scripts\download_data.py --year 2024 --month 1
python scripts\spark_analyze.py --input data/raw/yellow_tripdata_2024-01.parquet
uvicorn backend.main:app --reload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828800"/>
            <a:ext cx="5029200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12280" y="2176272"/>
            <a:ext cx="18288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PROJECT FILES</a:t>
            </a:r>
          </a:p>
        </p:txBody>
      </p:sp>
      <p:sp>
        <p:nvSpPr>
          <p:cNvPr id="12" name="Oval 11"/>
          <p:cNvSpPr/>
          <p:nvPr/>
        </p:nvSpPr>
        <p:spPr>
          <a:xfrm>
            <a:off x="6812280" y="2651760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13448" y="2542032"/>
            <a:ext cx="3913632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0202C"/>
                </a:solidFill>
                <a:latin typeface="Aptos"/>
              </a:rPr>
              <a:t>scripts/spark_analyze.py — Spark ETL</a:t>
            </a:r>
          </a:p>
        </p:txBody>
      </p:sp>
      <p:sp>
        <p:nvSpPr>
          <p:cNvPr id="14" name="Oval 13"/>
          <p:cNvSpPr/>
          <p:nvPr/>
        </p:nvSpPr>
        <p:spPr>
          <a:xfrm>
            <a:off x="6812280" y="2990088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13448" y="2880360"/>
            <a:ext cx="3913632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0202C"/>
                </a:solidFill>
                <a:latin typeface="Aptos"/>
              </a:rPr>
              <a:t>backend/main.py — FastAPI routes</a:t>
            </a:r>
          </a:p>
        </p:txBody>
      </p:sp>
      <p:sp>
        <p:nvSpPr>
          <p:cNvPr id="16" name="Oval 15"/>
          <p:cNvSpPr/>
          <p:nvPr/>
        </p:nvSpPr>
        <p:spPr>
          <a:xfrm>
            <a:off x="6812280" y="3328415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13448" y="3218687"/>
            <a:ext cx="3913632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0202C"/>
                </a:solidFill>
                <a:latin typeface="Aptos"/>
              </a:rPr>
              <a:t>backend/static/ — dashboard frontend</a:t>
            </a:r>
          </a:p>
        </p:txBody>
      </p:sp>
      <p:sp>
        <p:nvSpPr>
          <p:cNvPr id="18" name="Oval 17"/>
          <p:cNvSpPr/>
          <p:nvPr/>
        </p:nvSpPr>
        <p:spPr>
          <a:xfrm>
            <a:off x="6812280" y="3666744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13448" y="3557015"/>
            <a:ext cx="3913632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0202C"/>
                </a:solidFill>
                <a:latin typeface="Aptos"/>
              </a:rPr>
              <a:t>scripts/seed_demo.py — demo data</a:t>
            </a:r>
          </a:p>
        </p:txBody>
      </p:sp>
      <p:sp>
        <p:nvSpPr>
          <p:cNvPr id="20" name="Oval 19"/>
          <p:cNvSpPr/>
          <p:nvPr/>
        </p:nvSpPr>
        <p:spPr>
          <a:xfrm>
            <a:off x="6812280" y="4005072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13448" y="3895344"/>
            <a:ext cx="3913632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0202C"/>
                </a:solidFill>
                <a:latin typeface="Aptos"/>
              </a:rPr>
              <a:t>docs/project_report.md — written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440680"/>
            <a:ext cx="49377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97C73"/>
                </a:solidFill>
                <a:latin typeface="Courier New"/>
              </a:rPr>
              <a:t>Dashboard: http://127.0.0.1:8000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440680"/>
            <a:ext cx="45720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97C73"/>
                </a:solidFill>
                <a:latin typeface="Courier New"/>
              </a:rPr>
              <a:t>API docs: http://127.0.0.1:8000/docs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1455</Words>
  <Application>Microsoft Office PowerPoint</Application>
  <PresentationFormat>Widescreen</PresentationFormat>
  <Paragraphs>273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 Mobility Big Data Analytics Dashboard</dc:title>
  <dc:subject>Big Data Analytics university project presentation</dc:subject>
  <dc:creator>Jash Parekh</dc:creator>
  <cp:keywords>Apache Spark, MongoDB, FastAPI, Big Data, Taxi Analytics</cp:keywords>
  <dc:description>generated using python-pptx</dc:description>
  <cp:lastModifiedBy>jash parekh</cp:lastModifiedBy>
  <cp:revision>1</cp:revision>
  <dcterms:created xsi:type="dcterms:W3CDTF">2013-01-27T09:14:16Z</dcterms:created>
  <dcterms:modified xsi:type="dcterms:W3CDTF">2026-10-27T04:16:26Z</dcterms:modified>
  <cp:category/>
</cp:coreProperties>
</file>