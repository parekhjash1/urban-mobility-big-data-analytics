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8AD7CF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8AD7CF"/>
                </a:solidFill>
                <a:latin typeface="Aptos"/>
              </a:rPr>
              <a:t>01</a:t>
            </a:r>
          </a:p>
        </p:txBody>
      </p:sp>
      <p:sp>
        <p:nvSpPr>
          <p:cNvPr id="4" name="Oval 3"/>
          <p:cNvSpPr/>
          <p:nvPr/>
        </p:nvSpPr>
        <p:spPr>
          <a:xfrm>
            <a:off x="8869680" y="-1280160"/>
            <a:ext cx="4754880" cy="4754880"/>
          </a:xfrm>
          <a:prstGeom prst="ellipse">
            <a:avLst/>
          </a:prstGeom>
          <a:solidFill>
            <a:srgbClr val="102B3A"/>
          </a:solidFill>
          <a:ln w="10160">
            <a:solidFill>
              <a:srgbClr val="8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64040" y="-685800"/>
            <a:ext cx="3566160" cy="3566160"/>
          </a:xfrm>
          <a:prstGeom prst="ellipse">
            <a:avLst/>
          </a:prstGeom>
          <a:solidFill>
            <a:srgbClr val="102B3A"/>
          </a:solidFill>
          <a:ln w="10160">
            <a:solidFill>
              <a:srgbClr val="2E5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731520"/>
            <a:ext cx="53035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8AD7CF"/>
                </a:solidFill>
                <a:latin typeface="Aptos"/>
              </a:rPr>
              <a:t>BIG DATA ANALYTICS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234440"/>
            <a:ext cx="804672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ptos Display"/>
              </a:rPr>
              <a:t>Urban Mobility
Analytics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852928"/>
            <a:ext cx="64922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B5C9CD"/>
                </a:solidFill>
                <a:latin typeface="Aptos"/>
              </a:rPr>
              <a:t>An end-to-end data platform using Apache Spark, MongoDB, FastAPI, and a web 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4069080"/>
            <a:ext cx="3337560" cy="1042415"/>
          </a:xfrm>
          <a:prstGeom prst="roundRect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4270248"/>
            <a:ext cx="2834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JASH PAREKH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4590288"/>
            <a:ext cx="28346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8AD7CF"/>
                </a:solidFill>
                <a:latin typeface="Aptos"/>
              </a:rPr>
              <a:t>Roll No. 23BIT033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70448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B5C9CD"/>
                </a:solidFill>
                <a:latin typeface="Aptos"/>
              </a:rPr>
              <a:t>January 2024 NYC TLC Yellow Taxi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870448"/>
            <a:ext cx="3200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8AD7CF"/>
                </a:solidFill>
                <a:latin typeface="Aptos"/>
              </a:rPr>
              <a:t>UNIVERSITY COURSE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01 · 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Turning millions of trips into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The project demonstrates a complete analytics lifecycle, from raw data to an interactive presentation layer.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01952"/>
            <a:ext cx="251460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01952"/>
            <a:ext cx="64008" cy="1216152"/>
          </a:xfrm>
          <a:prstGeom prst="rect">
            <a:avLst/>
          </a:prstGeom>
          <a:solidFill>
            <a:srgbClr val="2D7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066544"/>
            <a:ext cx="2103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64737D"/>
                </a:solidFill>
                <a:latin typeface="Aptos"/>
              </a:rPr>
              <a:t>VALID TRIPS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95144"/>
            <a:ext cx="21031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0202C"/>
                </a:solidFill>
                <a:latin typeface="Aptos Display"/>
              </a:rPr>
              <a:t>2.87M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779776"/>
            <a:ext cx="2103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64737D"/>
                </a:solidFill>
                <a:latin typeface="Aptos"/>
              </a:rPr>
              <a:t>Spark-cleaned records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1901952"/>
            <a:ext cx="251460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0128" y="1901952"/>
            <a:ext cx="64008" cy="1216152"/>
          </a:xfrm>
          <a:prstGeom prst="rect">
            <a:avLst/>
          </a:prstGeom>
          <a:solidFill>
            <a:srgbClr val="F07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1296" y="2066544"/>
            <a:ext cx="2103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64737D"/>
                </a:solidFill>
                <a:latin typeface="Aptos"/>
              </a:rPr>
              <a:t>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2295144"/>
            <a:ext cx="21031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0202C"/>
                </a:solidFill>
                <a:latin typeface="Aptos Display"/>
              </a:rPr>
              <a:t>$78.42M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11296" y="2779776"/>
            <a:ext cx="2103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64737D"/>
                </a:solidFill>
                <a:latin typeface="Aptos"/>
              </a:rPr>
              <a:t>Aggregated total_amount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25896" y="1901952"/>
            <a:ext cx="251460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25896" y="1901952"/>
            <a:ext cx="64008" cy="1216152"/>
          </a:xfrm>
          <a:prstGeom prst="rect">
            <a:avLst/>
          </a:prstGeom>
          <a:solidFill>
            <a:srgbClr val="18A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7064" y="2066544"/>
            <a:ext cx="2103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64737D"/>
                </a:solidFill>
                <a:latin typeface="Aptos"/>
              </a:rPr>
              <a:t>AVERAGE FARE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2295144"/>
            <a:ext cx="21031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0202C"/>
                </a:solidFill>
                <a:latin typeface="Aptos Display"/>
              </a:rPr>
              <a:t>$18.49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7064" y="2779776"/>
            <a:ext cx="2103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64737D"/>
                </a:solidFill>
                <a:latin typeface="Aptos"/>
              </a:rPr>
              <a:t>Per completed trip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41664" y="1901952"/>
            <a:ext cx="251460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41664" y="1901952"/>
            <a:ext cx="64008" cy="1216152"/>
          </a:xfrm>
          <a:prstGeom prst="rect">
            <a:avLst/>
          </a:prstGeom>
          <a:solidFill>
            <a:srgbClr val="876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2066544"/>
            <a:ext cx="2103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64737D"/>
                </a:solidFill>
                <a:latin typeface="Aptos"/>
              </a:rPr>
              <a:t>AVG. DISTANCE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2295144"/>
            <a:ext cx="21031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0202C"/>
                </a:solidFill>
                <a:latin typeface="Aptos Display"/>
              </a:rPr>
              <a:t>3.29 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2779776"/>
            <a:ext cx="2103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64737D"/>
                </a:solidFill>
                <a:latin typeface="Aptos"/>
              </a:rPr>
              <a:t>Trip distance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502152"/>
            <a:ext cx="11000232" cy="2075688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3785615"/>
            <a:ext cx="13716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CORE IDEA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096512"/>
            <a:ext cx="699516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0202C"/>
                </a:solidFill>
                <a:latin typeface="Aptos Display"/>
              </a:rPr>
              <a:t>Raw taxi records are too detailed to serve directly to a dashboard. Spark performs the expensive distributed work once, MongoDB stores compact analytical results, and FastAPI serves fast responses to the frontend.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3767328"/>
            <a:ext cx="25603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Business questions answered</a:t>
            </a:r>
          </a:p>
        </p:txBody>
      </p:sp>
      <p:sp>
        <p:nvSpPr>
          <p:cNvPr id="32" name="Oval 31"/>
          <p:cNvSpPr/>
          <p:nvPr/>
        </p:nvSpPr>
        <p:spPr>
          <a:xfrm>
            <a:off x="8275320" y="420624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76488" y="4096512"/>
            <a:ext cx="267919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When is demand highest?</a:t>
            </a:r>
          </a:p>
        </p:txBody>
      </p:sp>
      <p:sp>
        <p:nvSpPr>
          <p:cNvPr id="34" name="Oval 33"/>
          <p:cNvSpPr/>
          <p:nvPr/>
        </p:nvSpPr>
        <p:spPr>
          <a:xfrm>
            <a:off x="8275320" y="4517136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76488" y="4407408"/>
            <a:ext cx="267919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Which zones and routes lead?</a:t>
            </a:r>
          </a:p>
        </p:txBody>
      </p:sp>
      <p:sp>
        <p:nvSpPr>
          <p:cNvPr id="36" name="Oval 35"/>
          <p:cNvSpPr/>
          <p:nvPr/>
        </p:nvSpPr>
        <p:spPr>
          <a:xfrm>
            <a:off x="8275320" y="4828032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6488" y="4718304"/>
            <a:ext cx="267919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What is the revenue profile?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02 · PROBLEM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Why this analytics system is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Urban transport data is high-volume, time-sensitive, and difficult to analyze efficiently without a distributed workflow.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5230368" cy="39502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828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F07844"/>
                </a:solidFill>
                <a:latin typeface="Aptos"/>
              </a:rPr>
              <a:t>THE CHALLENGE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65176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542032"/>
            <a:ext cx="42793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Millions of trip records contain invalid, missing, or unrealistic values.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15468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044952"/>
            <a:ext cx="42793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Repeatedly querying raw files creates unnecessary processing cost.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365760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3547872"/>
            <a:ext cx="42793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Decision-makers need simple answers by hour, location, and route.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16052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050791"/>
            <a:ext cx="42793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A technical pipeline is not enough; results must be easy to demonstrate.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828800"/>
            <a:ext cx="5230368" cy="3950208"/>
          </a:xfrm>
          <a:prstGeom prst="roundRect">
            <a:avLst/>
          </a:prstGeom>
          <a:solidFill>
            <a:srgbClr val="E8F0FD"/>
          </a:solidFill>
          <a:ln w="10160">
            <a:solidFill>
              <a:srgbClr val="E8F0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148840"/>
            <a:ext cx="22860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2D75E6"/>
                </a:solidFill>
                <a:latin typeface="Aptos"/>
              </a:rPr>
              <a:t>PROJECT OBJECTIVES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65176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2542032"/>
            <a:ext cx="42793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Build a reproducible Spark ETL and analytics pipeline.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0" y="315468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84848" y="3044952"/>
            <a:ext cx="42793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Store dashboard-ready aggregates in MongoDB.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365760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4848" y="3547872"/>
            <a:ext cx="42793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Expose results through documented REST endpoints.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416052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4050791"/>
            <a:ext cx="427939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Present insights through a responsive web dashboard.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03 · DATA 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NYC TLC Yellow Taxi trip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A real public Parquet dataset was downloaded and processed locally with Apache Spark.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4663440" cy="3474720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76272"/>
            <a:ext cx="1828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8AD7CF"/>
                </a:solidFill>
                <a:latin typeface="Aptos"/>
              </a:rPr>
              <a:t>JANUARY 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578608"/>
            <a:ext cx="320040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ptos Display"/>
              </a:rPr>
              <a:t>47.6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355848"/>
            <a:ext cx="347472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B5C9CD"/>
                </a:solidFill>
                <a:latin typeface="Aptos"/>
              </a:rPr>
              <a:t>Parquet file
2.87 million valid records
19 source columns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818888"/>
            <a:ext cx="3794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8AD7CF"/>
                </a:solidFill>
                <a:latin typeface="Aptos"/>
              </a:rPr>
              <a:t>Source: NYC Taxi &amp; Limousine Commission (TLC)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0" y="1828800"/>
            <a:ext cx="5833872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2176272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IMPORTANT FIELDS 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578608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Courier New"/>
              </a:rPr>
              <a:t>tpep_pickup_datetime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578608"/>
            <a:ext cx="1645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Time analysis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35040" y="2834639"/>
            <a:ext cx="5102352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35040" y="2980944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Courier New"/>
              </a:rPr>
              <a:t>tpep_dropoff_datetime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980944"/>
            <a:ext cx="1645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Duration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3236976"/>
            <a:ext cx="5102352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35040" y="3383279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Courier New"/>
              </a:rPr>
              <a:t>trip_distance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383279"/>
            <a:ext cx="1645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Distance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35040" y="3639311"/>
            <a:ext cx="5102352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35040" y="3785615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Courier New"/>
              </a:rPr>
              <a:t>fare_amount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785615"/>
            <a:ext cx="1645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Fare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35040" y="4041648"/>
            <a:ext cx="5102352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035040" y="418795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Courier New"/>
              </a:rPr>
              <a:t>total_amount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4187952"/>
            <a:ext cx="1645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Revenue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35040" y="4443984"/>
            <a:ext cx="5102352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35040" y="4590288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Courier New"/>
              </a:rPr>
              <a:t>PULocationID / DOLocationID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590288"/>
            <a:ext cx="1645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Routes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35040" y="4846320"/>
            <a:ext cx="5102352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04 ·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One pipeline, five layers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Each component has a focused responsibility: process, store, serve, visualize, and communicate.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331720"/>
            <a:ext cx="1847088" cy="1572768"/>
          </a:xfrm>
          <a:prstGeom prst="roundRect">
            <a:avLst/>
          </a:prstGeom>
          <a:solidFill>
            <a:srgbClr val="E8F0FD"/>
          </a:solidFill>
          <a:ln w="10160">
            <a:solidFill>
              <a:srgbClr val="E8F0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0664" y="2514600"/>
            <a:ext cx="329184" cy="329184"/>
          </a:xfrm>
          <a:prstGeom prst="ellipse">
            <a:avLst/>
          </a:prstGeom>
          <a:solidFill>
            <a:srgbClr val="2D75E6"/>
          </a:solidFill>
          <a:ln w="10160">
            <a:solidFill>
              <a:srgbClr val="2D7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2551176"/>
            <a:ext cx="32918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3017520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TLC Parquet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401568"/>
            <a:ext cx="1554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64737D"/>
                </a:solidFill>
                <a:latin typeface="Aptos"/>
              </a:rPr>
              <a:t>Raw public data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459736" y="3118104"/>
            <a:ext cx="347472" cy="0"/>
          </a:xfrm>
          <a:prstGeom prst="line">
            <a:avLst/>
          </a:prstGeom>
          <a:ln w="25400">
            <a:solidFill>
              <a:srgbClr val="197C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80360" y="2331720"/>
            <a:ext cx="1847088" cy="1572768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26664" y="2514600"/>
            <a:ext cx="329184" cy="329184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26664" y="2551176"/>
            <a:ext cx="32918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6664" y="3017520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Apache Spark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6664" y="3401568"/>
            <a:ext cx="1554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64737D"/>
                </a:solidFill>
                <a:latin typeface="Aptos"/>
              </a:rPr>
              <a:t>ETL + streaming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45736" y="3118104"/>
            <a:ext cx="347472" cy="0"/>
          </a:xfrm>
          <a:prstGeom prst="line">
            <a:avLst/>
          </a:prstGeom>
          <a:ln w="25400">
            <a:solidFill>
              <a:srgbClr val="197C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66360" y="2331720"/>
            <a:ext cx="1847088" cy="1572768"/>
          </a:xfrm>
          <a:prstGeom prst="roundRect">
            <a:avLst/>
          </a:prstGeom>
          <a:solidFill>
            <a:srgbClr val="FDEFE8"/>
          </a:solidFill>
          <a:ln w="10160">
            <a:solidFill>
              <a:srgbClr val="FD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12664" y="2514600"/>
            <a:ext cx="329184" cy="329184"/>
          </a:xfrm>
          <a:prstGeom prst="ellipse">
            <a:avLst/>
          </a:prstGeom>
          <a:solidFill>
            <a:srgbClr val="F07844"/>
          </a:solidFill>
          <a:ln w="10160">
            <a:solidFill>
              <a:srgbClr val="F078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2664" y="2551176"/>
            <a:ext cx="32918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2664" y="3017520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MongoDB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401568"/>
            <a:ext cx="1554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64737D"/>
                </a:solidFill>
                <a:latin typeface="Aptos"/>
              </a:rPr>
              <a:t>Analytics store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031736" y="3118104"/>
            <a:ext cx="347472" cy="0"/>
          </a:xfrm>
          <a:prstGeom prst="line">
            <a:avLst/>
          </a:prstGeom>
          <a:ln w="25400">
            <a:solidFill>
              <a:srgbClr val="197C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452360" y="2331720"/>
            <a:ext cx="1847088" cy="1572768"/>
          </a:xfrm>
          <a:prstGeom prst="roundRect">
            <a:avLst/>
          </a:prstGeom>
          <a:solidFill>
            <a:srgbClr val="EEE9FD"/>
          </a:solidFill>
          <a:ln w="10160">
            <a:solidFill>
              <a:srgbClr val="EEE9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598664" y="2514600"/>
            <a:ext cx="329184" cy="329184"/>
          </a:xfrm>
          <a:prstGeom prst="ellipse">
            <a:avLst/>
          </a:prstGeom>
          <a:solidFill>
            <a:srgbClr val="8765DC"/>
          </a:solidFill>
          <a:ln w="10160">
            <a:solidFill>
              <a:srgbClr val="876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8664" y="2551176"/>
            <a:ext cx="32918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8664" y="3017520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FastAPI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8664" y="3401568"/>
            <a:ext cx="1554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64737D"/>
                </a:solidFill>
                <a:latin typeface="Aptos"/>
              </a:rPr>
              <a:t>REST backend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317736" y="3118104"/>
            <a:ext cx="347472" cy="0"/>
          </a:xfrm>
          <a:prstGeom prst="line">
            <a:avLst/>
          </a:prstGeom>
          <a:ln w="25400">
            <a:solidFill>
              <a:srgbClr val="197C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738360" y="2331720"/>
            <a:ext cx="1847088" cy="1572768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884664" y="2514600"/>
            <a:ext cx="329184" cy="329184"/>
          </a:xfrm>
          <a:prstGeom prst="ellipse">
            <a:avLst/>
          </a:prstGeom>
          <a:solidFill>
            <a:srgbClr val="8AD7CF"/>
          </a:solidFill>
          <a:ln w="10160">
            <a:solidFill>
              <a:srgbClr val="8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84664" y="2551176"/>
            <a:ext cx="32918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102B3A"/>
                </a:solidFill>
                <a:latin typeface="Aptos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84664" y="3017520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ptos"/>
              </a:rPr>
              <a:t>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84664" y="3401568"/>
            <a:ext cx="1554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i="0">
                <a:solidFill>
                  <a:srgbClr val="8AD7CF"/>
                </a:solidFill>
                <a:latin typeface="Aptos"/>
              </a:rPr>
              <a:t>Charts + map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0120" y="4709160"/>
            <a:ext cx="10195560" cy="8412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34440" y="4965192"/>
            <a:ext cx="1554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Design principle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4882896"/>
            <a:ext cx="78181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0202C"/>
                </a:solidFill>
                <a:latin typeface="Aptos Display"/>
              </a:rPr>
              <a:t>Process batch and live events → store fast-to-query results → serve a responsive user experience.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05 · DISTRIBUTED PROCESSING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What Apache Spark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Spark reads the Parquet file, applies data-quality rules, derives analytical fields, and performs distributed aggregations.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4956048" cy="3474720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938528"/>
            <a:ext cx="4626864" cy="327355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8AD7CF"/>
                </a:solidFill>
                <a:latin typeface="Courier New"/>
              </a:rPr>
              <a:t>raw = spark.read.parquet(input)
trips = (raw.select(...)
  .withColumn("duration_minutes", ...)
  .withColumn("pickup_hour", F.hour(...))
  .filter(validity_rules)
  .cache())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1828800"/>
            <a:ext cx="5559552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57984"/>
            <a:ext cx="1828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PROCESSING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54203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Courier New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42032"/>
            <a:ext cx="1005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Aptos"/>
              </a:rPr>
              <a:t>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542032"/>
            <a:ext cx="3200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Load Parquet columns with Spark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04495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Courier New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044952"/>
            <a:ext cx="1005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Aptos"/>
              </a:rPr>
              <a:t>Clean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44952"/>
            <a:ext cx="3200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Remove invalid distance, fare, zones, and durations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4787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Courier New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3547872"/>
            <a:ext cx="1005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Aptos"/>
              </a:rPr>
              <a:t>Derive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547872"/>
            <a:ext cx="3200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Calculate duration and pickup hour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050791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Courier New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4050791"/>
            <a:ext cx="1005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Aptos"/>
              </a:rPr>
              <a:t>Aggregate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4050791"/>
            <a:ext cx="3200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Group by hour, route, and pickup zone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553712"/>
            <a:ext cx="3200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Courier New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553712"/>
            <a:ext cx="1005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Aptos"/>
              </a:rPr>
              <a:t>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4553712"/>
            <a:ext cx="3200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Write compact results to MongoDB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596128"/>
            <a:ext cx="4572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97C73"/>
                </a:solidFill>
                <a:latin typeface="Aptos"/>
              </a:rPr>
              <a:t>Result: 2,868,178 valid records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5596128"/>
            <a:ext cx="4937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The pipeline runs locally with master=local[*], using all available CPU cores.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06 · ANALYTICAL 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MongoDB stores dashboard-ready collections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The application does not scan millions of raw trip records for each page load; it reads compact aggregates instead.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47088"/>
            <a:ext cx="4709160" cy="4754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47088"/>
            <a:ext cx="73152" cy="475488"/>
          </a:xfrm>
          <a:prstGeom prst="rect">
            <a:avLst/>
          </a:prstGeom>
          <a:solidFill>
            <a:srgbClr val="2D7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65960"/>
            <a:ext cx="2148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965960"/>
            <a:ext cx="1600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KPI cards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404872"/>
            <a:ext cx="4709160" cy="4754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404872"/>
            <a:ext cx="73152" cy="47548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523744"/>
            <a:ext cx="2148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hourly_demand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523744"/>
            <a:ext cx="1600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24-hour demand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962656"/>
            <a:ext cx="4709160" cy="4754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962656"/>
            <a:ext cx="73152" cy="475488"/>
          </a:xfrm>
          <a:prstGeom prst="rect">
            <a:avLst/>
          </a:prstGeom>
          <a:solidFill>
            <a:srgbClr val="F07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081528"/>
            <a:ext cx="2148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top_routes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081528"/>
            <a:ext cx="1600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Route ranking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520440"/>
            <a:ext cx="4709160" cy="4754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3520440"/>
            <a:ext cx="73152" cy="475488"/>
          </a:xfrm>
          <a:prstGeom prst="rect">
            <a:avLst/>
          </a:prstGeom>
          <a:solidFill>
            <a:srgbClr val="876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639312"/>
            <a:ext cx="2148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zone_performance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639312"/>
            <a:ext cx="1600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Zone metrics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078224"/>
            <a:ext cx="4709160" cy="4754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4078224"/>
            <a:ext cx="73152" cy="475488"/>
          </a:xfrm>
          <a:prstGeom prst="rect">
            <a:avLst/>
          </a:prstGeom>
          <a:solidFill>
            <a:srgbClr val="F07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197096"/>
            <a:ext cx="2148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streaming_demand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197096"/>
            <a:ext cx="1600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Live demand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636008"/>
            <a:ext cx="4709160" cy="4754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" y="4636008"/>
            <a:ext cx="73152" cy="475488"/>
          </a:xfrm>
          <a:prstGeom prst="rect">
            <a:avLst/>
          </a:prstGeom>
          <a:solidFill>
            <a:srgbClr val="18A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754880"/>
            <a:ext cx="21488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metadata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4754880"/>
            <a:ext cx="1600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Lineage + status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89320" y="1847088"/>
            <a:ext cx="5559552" cy="3767328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167128"/>
            <a:ext cx="20116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8AD7CF"/>
                </a:solidFill>
                <a:latin typeface="Aptos"/>
              </a:rPr>
              <a:t>EXAMPLE DOCUMENT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2587752"/>
            <a:ext cx="4846320" cy="1993392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1" y="2697480"/>
            <a:ext cx="4517136" cy="17922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8AD7CF"/>
                </a:solidFill>
                <a:latin typeface="Courier New"/>
              </a:rPr>
              <a:t>{
  "total_trips": 2868178,
  "total_revenue": 78417975.23,
  "average_fare": 18.49,
  "average_distance": 3.29,
  "average_duration": 14.97
}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992624"/>
            <a:ext cx="45720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B5C9CD"/>
                </a:solidFill>
                <a:latin typeface="Aptos"/>
              </a:rPr>
              <a:t>MongoDB Compass can be used to inspect these collections during the presentation.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07 · BACKEND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FastAPI connects analytics to the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The backend provides documented REST endpoints and serves the frontend from one local application.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840480" cy="3749039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12848"/>
            <a:ext cx="13716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8AD7CF"/>
                </a:solidFill>
                <a:latin typeface="Aptos"/>
              </a:rPr>
              <a:t>FASTAPI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51760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ourier New"/>
              </a:rPr>
              <a:t>http://127.0.0.1:8000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246120"/>
            <a:ext cx="2926080" cy="1417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B5C9CD"/>
                </a:solidFill>
                <a:latin typeface="Aptos"/>
              </a:rPr>
              <a:t>The same service provides:
• Web dashboard at /
• Interactive API docs at /docs
• JSON endpoints under /api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1874519"/>
            <a:ext cx="6656832" cy="374903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2212848"/>
            <a:ext cx="21031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REST API CONTRACT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80" y="2587752"/>
            <a:ext cx="566928" cy="484632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5232" y="2624328"/>
            <a:ext cx="420623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00" b="1" i="0">
                <a:solidFill>
                  <a:srgbClr val="197C73"/>
                </a:solidFill>
                <a:latin typeface="Aptos"/>
              </a:rPr>
              <a:t>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697479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/api/health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2697479"/>
            <a:ext cx="20116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MongoDB status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999232"/>
            <a:ext cx="5943600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12080" y="3090672"/>
            <a:ext cx="566928" cy="484632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85232" y="3127248"/>
            <a:ext cx="420623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00" b="1" i="0">
                <a:solidFill>
                  <a:srgbClr val="197C73"/>
                </a:solidFill>
                <a:latin typeface="Aptos"/>
              </a:rPr>
              <a:t>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3200400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/api/overview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3200400"/>
            <a:ext cx="20116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KPI metrics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212080" y="3502152"/>
            <a:ext cx="5943600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212080" y="3593592"/>
            <a:ext cx="566928" cy="484632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2" y="3630168"/>
            <a:ext cx="420623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00" b="1" i="0">
                <a:solidFill>
                  <a:srgbClr val="197C73"/>
                </a:solidFill>
                <a:latin typeface="Aptos"/>
              </a:rPr>
              <a:t>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3703320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/api/hourly-demand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3703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Hourly chart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12080" y="4005072"/>
            <a:ext cx="5943600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212080" y="4096511"/>
            <a:ext cx="566928" cy="484632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85232" y="4133087"/>
            <a:ext cx="420623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00" b="1" i="0">
                <a:solidFill>
                  <a:srgbClr val="197C73"/>
                </a:solidFill>
                <a:latin typeface="Aptos"/>
              </a:rPr>
              <a:t>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4206240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/api/top-routes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4206240"/>
            <a:ext cx="20116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Route table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212080" y="4507992"/>
            <a:ext cx="5943600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212080" y="4599432"/>
            <a:ext cx="566928" cy="484632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5232" y="4636008"/>
            <a:ext cx="420623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00" b="1" i="0">
                <a:solidFill>
                  <a:srgbClr val="197C73"/>
                </a:solidFill>
                <a:latin typeface="Aptos"/>
              </a:rPr>
              <a:t>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4709160"/>
            <a:ext cx="23317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10202C"/>
                </a:solidFill>
                <a:latin typeface="Courier New"/>
              </a:rPr>
              <a:t>/api/zone-performance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4709160"/>
            <a:ext cx="20116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Zone chart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12080" y="5010912"/>
            <a:ext cx="5943600" cy="0"/>
          </a:xfrm>
          <a:prstGeom prst="line">
            <a:avLst/>
          </a:prstGeom>
          <a:ln w="889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08 ·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A presentation-ready analytics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The browser fetches JSON from FastAPI and turns it into KPI cards, charts, and a route ranking 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783080"/>
            <a:ext cx="10991088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783080"/>
            <a:ext cx="10991088" cy="530352"/>
          </a:xfrm>
          <a:prstGeom prst="rect">
            <a:avLst/>
          </a:prstGeom>
          <a:solidFill>
            <a:srgbClr val="10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956816"/>
            <a:ext cx="36576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URBAN MOBILITY ANALYTICS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64040" y="1874519"/>
            <a:ext cx="1691640" cy="484632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37192" y="1911095"/>
            <a:ext cx="1545336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00" b="1" i="0">
                <a:solidFill>
                  <a:srgbClr val="197C73"/>
                </a:solidFill>
                <a:latin typeface="Aptos"/>
              </a:rPr>
              <a:t>MongoDB connected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1874519"/>
            <a:ext cx="1691640" cy="484632"/>
          </a:xfrm>
          <a:prstGeom prst="roundRect">
            <a:avLst/>
          </a:prstGeom>
          <a:solidFill>
            <a:srgbClr val="FDEFE8"/>
          </a:solidFill>
          <a:ln w="10160">
            <a:solidFill>
              <a:srgbClr val="FD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911095"/>
            <a:ext cx="1545336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800" b="1" i="0">
                <a:solidFill>
                  <a:srgbClr val="F07844"/>
                </a:solidFill>
                <a:latin typeface="Aptos"/>
              </a:rPr>
              <a:t>MAP + LIVE STREAM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" y="2633472"/>
            <a:ext cx="2331720" cy="804672"/>
          </a:xfrm>
          <a:prstGeom prst="roundRect">
            <a:avLst/>
          </a:prstGeom>
          <a:solidFill>
            <a:srgbClr val="F6F9F8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" y="2633472"/>
            <a:ext cx="45720" cy="804672"/>
          </a:xfrm>
          <a:prstGeom prst="rect">
            <a:avLst/>
          </a:prstGeom>
          <a:solidFill>
            <a:srgbClr val="2D7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2798064"/>
            <a:ext cx="1920240" cy="118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00" b="1" i="0">
                <a:solidFill>
                  <a:srgbClr val="64737D"/>
                </a:solidFill>
                <a:latin typeface="Aptos"/>
              </a:rPr>
              <a:t>TOTAL TRIPS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" y="3008376"/>
            <a:ext cx="1920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0202C"/>
                </a:solidFill>
                <a:latin typeface="Aptos"/>
              </a:rPr>
              <a:t>2.87M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47872" y="2633472"/>
            <a:ext cx="2331720" cy="804672"/>
          </a:xfrm>
          <a:prstGeom prst="roundRect">
            <a:avLst/>
          </a:prstGeom>
          <a:solidFill>
            <a:srgbClr val="F6F9F8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47872" y="2633472"/>
            <a:ext cx="45720" cy="804672"/>
          </a:xfrm>
          <a:prstGeom prst="rect">
            <a:avLst/>
          </a:prstGeom>
          <a:solidFill>
            <a:srgbClr val="F07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12463" y="2798064"/>
            <a:ext cx="1920240" cy="118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00" b="1" i="0">
                <a:solidFill>
                  <a:srgbClr val="64737D"/>
                </a:solidFill>
                <a:latin typeface="Aptos"/>
              </a:rPr>
              <a:t>REVENUE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2463" y="3008376"/>
            <a:ext cx="1920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0202C"/>
                </a:solidFill>
                <a:latin typeface="Aptos"/>
              </a:rPr>
              <a:t>$78.42M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1" y="2633472"/>
            <a:ext cx="2331720" cy="804672"/>
          </a:xfrm>
          <a:prstGeom prst="roundRect">
            <a:avLst/>
          </a:prstGeom>
          <a:solidFill>
            <a:srgbClr val="F6F9F8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1" y="2633472"/>
            <a:ext cx="45720" cy="804672"/>
          </a:xfrm>
          <a:prstGeom prst="rect">
            <a:avLst/>
          </a:prstGeom>
          <a:solidFill>
            <a:srgbClr val="18A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4223" y="2798064"/>
            <a:ext cx="1920240" cy="118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00" b="1" i="0">
                <a:solidFill>
                  <a:srgbClr val="64737D"/>
                </a:solidFill>
                <a:latin typeface="Aptos"/>
              </a:rPr>
              <a:t>AVG FARE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3" y="3008376"/>
            <a:ext cx="1920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0202C"/>
                </a:solidFill>
                <a:latin typeface="Aptos"/>
              </a:rPr>
              <a:t>$18.49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51392" y="2633472"/>
            <a:ext cx="2331720" cy="804672"/>
          </a:xfrm>
          <a:prstGeom prst="roundRect">
            <a:avLst/>
          </a:prstGeom>
          <a:solidFill>
            <a:srgbClr val="F6F9F8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51392" y="2633472"/>
            <a:ext cx="45720" cy="804672"/>
          </a:xfrm>
          <a:prstGeom prst="rect">
            <a:avLst/>
          </a:prstGeom>
          <a:solidFill>
            <a:srgbClr val="876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5984" y="2798064"/>
            <a:ext cx="1920240" cy="1188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00" b="1" i="0">
                <a:solidFill>
                  <a:srgbClr val="64737D"/>
                </a:solidFill>
                <a:latin typeface="Aptos"/>
              </a:rPr>
              <a:t>AVG DISTANCE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5984" y="3008376"/>
            <a:ext cx="1920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0202C"/>
                </a:solidFill>
                <a:latin typeface="Aptos"/>
              </a:rPr>
              <a:t>3.29 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3858768"/>
            <a:ext cx="2194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Aptos"/>
              </a:rPr>
              <a:t>Trips by pickup hour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307592" y="4242816"/>
            <a:ext cx="0" cy="777239"/>
          </a:xfrm>
          <a:prstGeom prst="line">
            <a:avLst/>
          </a:prstGeom>
          <a:ln w="1270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307592" y="5020055"/>
            <a:ext cx="4453128" cy="0"/>
          </a:xfrm>
          <a:prstGeom prst="line">
            <a:avLst/>
          </a:prstGeom>
          <a:ln w="1270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307592" y="4780025"/>
            <a:ext cx="193614" cy="51436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501206" y="4831461"/>
            <a:ext cx="193614" cy="34289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94820" y="4865750"/>
            <a:ext cx="193614" cy="25718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888434" y="4891468"/>
            <a:ext cx="193615" cy="8573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082049" y="4831461"/>
            <a:ext cx="193614" cy="68580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75663" y="4720018"/>
            <a:ext cx="193614" cy="111443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69277" y="4608575"/>
            <a:ext cx="193614" cy="111443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62891" y="4548568"/>
            <a:ext cx="193615" cy="60007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856506" y="4548568"/>
            <a:ext cx="193614" cy="42862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050120" y="4591430"/>
            <a:ext cx="193614" cy="68581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243734" y="4660011"/>
            <a:ext cx="193614" cy="42862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437348" y="4702873"/>
            <a:ext cx="193615" cy="25718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630963" y="4728591"/>
            <a:ext cx="193614" cy="17145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24577" y="4745736"/>
            <a:ext cx="193614" cy="8572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018191" y="4720018"/>
            <a:ext cx="193614" cy="34290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211805" y="4651438"/>
            <a:ext cx="193615" cy="68580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405420" y="4531423"/>
            <a:ext cx="193614" cy="120015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4599034" y="4471416"/>
            <a:ext cx="193614" cy="60007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792648" y="4471416"/>
            <a:ext cx="193614" cy="34289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986262" y="4505705"/>
            <a:ext cx="193615" cy="77153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179877" y="4582858"/>
            <a:ext cx="193614" cy="60008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373491" y="4642866"/>
            <a:ext cx="193614" cy="42862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567105" y="4685728"/>
            <a:ext cx="193615" cy="51435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1266444" y="4738877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24712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00</a:t>
            </a:r>
          </a:p>
        </p:txBody>
      </p:sp>
      <p:sp>
        <p:nvSpPr>
          <p:cNvPr id="59" name="Oval 58"/>
          <p:cNvSpPr/>
          <p:nvPr/>
        </p:nvSpPr>
        <p:spPr>
          <a:xfrm>
            <a:off x="1460058" y="4790313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653672" y="4824602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847286" y="485032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05554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03</a:t>
            </a:r>
          </a:p>
        </p:txBody>
      </p:sp>
      <p:sp>
        <p:nvSpPr>
          <p:cNvPr id="63" name="Oval 62"/>
          <p:cNvSpPr/>
          <p:nvPr/>
        </p:nvSpPr>
        <p:spPr>
          <a:xfrm>
            <a:off x="2040901" y="4858893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234515" y="4790313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428129" y="467887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286397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06</a:t>
            </a:r>
          </a:p>
        </p:txBody>
      </p:sp>
      <p:sp>
        <p:nvSpPr>
          <p:cNvPr id="67" name="Oval 66"/>
          <p:cNvSpPr/>
          <p:nvPr/>
        </p:nvSpPr>
        <p:spPr>
          <a:xfrm>
            <a:off x="2621743" y="4567427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2815358" y="450742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008972" y="4550282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67240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09</a:t>
            </a:r>
          </a:p>
        </p:txBody>
      </p:sp>
      <p:sp>
        <p:nvSpPr>
          <p:cNvPr id="71" name="Oval 70"/>
          <p:cNvSpPr/>
          <p:nvPr/>
        </p:nvSpPr>
        <p:spPr>
          <a:xfrm>
            <a:off x="3202586" y="4618863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396200" y="466172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589815" y="4687443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48083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12</a:t>
            </a:r>
          </a:p>
        </p:txBody>
      </p:sp>
      <p:sp>
        <p:nvSpPr>
          <p:cNvPr id="75" name="Oval 74"/>
          <p:cNvSpPr/>
          <p:nvPr/>
        </p:nvSpPr>
        <p:spPr>
          <a:xfrm>
            <a:off x="3783429" y="4704588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977043" y="471316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35311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15</a:t>
            </a:r>
          </a:p>
        </p:txBody>
      </p:sp>
      <p:sp>
        <p:nvSpPr>
          <p:cNvPr id="78" name="Oval 77"/>
          <p:cNvSpPr/>
          <p:nvPr/>
        </p:nvSpPr>
        <p:spPr>
          <a:xfrm>
            <a:off x="4170657" y="467887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364272" y="461029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57886" y="449027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416154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18</a:t>
            </a:r>
          </a:p>
        </p:txBody>
      </p:sp>
      <p:sp>
        <p:nvSpPr>
          <p:cNvPr id="82" name="Oval 81"/>
          <p:cNvSpPr/>
          <p:nvPr/>
        </p:nvSpPr>
        <p:spPr>
          <a:xfrm>
            <a:off x="4751500" y="4430268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945114" y="4464557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138729" y="454171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996997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21</a:t>
            </a:r>
          </a:p>
        </p:txBody>
      </p:sp>
      <p:sp>
        <p:nvSpPr>
          <p:cNvPr id="86" name="Oval 85"/>
          <p:cNvSpPr/>
          <p:nvPr/>
        </p:nvSpPr>
        <p:spPr>
          <a:xfrm>
            <a:off x="5332343" y="4601718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525957" y="464458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719572" y="469601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577840" y="5065775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23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0" y="3858768"/>
            <a:ext cx="2194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Aptos"/>
              </a:rPr>
              <a:t>Busiest zones + map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464808" y="4187952"/>
            <a:ext cx="0" cy="886968"/>
          </a:xfrm>
          <a:prstGeom prst="line">
            <a:avLst/>
          </a:prstGeom>
          <a:ln w="1270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6464808" y="5074920"/>
            <a:ext cx="4690872" cy="0"/>
          </a:xfrm>
          <a:prstGeom prst="line">
            <a:avLst/>
          </a:prstGeom>
          <a:ln w="1270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6694932" y="4270248"/>
            <a:ext cx="472440" cy="804672"/>
          </a:xfrm>
          <a:prstGeom prst="roundRect">
            <a:avLst/>
          </a:prstGeom>
          <a:solidFill>
            <a:srgbClr val="18A878"/>
          </a:solidFill>
          <a:ln w="10160">
            <a:solidFill>
              <a:srgbClr val="18A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658356" y="5138928"/>
            <a:ext cx="5455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132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456932" y="4321610"/>
            <a:ext cx="472440" cy="753309"/>
          </a:xfrm>
          <a:prstGeom prst="roundRect">
            <a:avLst/>
          </a:prstGeom>
          <a:solidFill>
            <a:srgbClr val="18A878"/>
          </a:solidFill>
          <a:ln w="10160">
            <a:solidFill>
              <a:srgbClr val="18A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420356" y="5138928"/>
            <a:ext cx="5455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138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218932" y="4424334"/>
            <a:ext cx="472440" cy="650585"/>
          </a:xfrm>
          <a:prstGeom prst="roundRect">
            <a:avLst/>
          </a:prstGeom>
          <a:solidFill>
            <a:srgbClr val="18A878"/>
          </a:solidFill>
          <a:ln w="10160">
            <a:solidFill>
              <a:srgbClr val="18A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182356" y="5138928"/>
            <a:ext cx="5455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161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980932" y="4475696"/>
            <a:ext cx="472440" cy="599223"/>
          </a:xfrm>
          <a:prstGeom prst="roundRect">
            <a:avLst/>
          </a:prstGeom>
          <a:solidFill>
            <a:srgbClr val="18A878"/>
          </a:solidFill>
          <a:ln w="10160">
            <a:solidFill>
              <a:srgbClr val="18A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944356" y="5138928"/>
            <a:ext cx="5455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237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742932" y="4518497"/>
            <a:ext cx="472440" cy="556422"/>
          </a:xfrm>
          <a:prstGeom prst="roundRect">
            <a:avLst/>
          </a:prstGeom>
          <a:solidFill>
            <a:srgbClr val="18A878"/>
          </a:solidFill>
          <a:ln w="10160">
            <a:solidFill>
              <a:srgbClr val="18A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706356" y="5138928"/>
            <a:ext cx="5455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170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0504932" y="4544178"/>
            <a:ext cx="472440" cy="530741"/>
          </a:xfrm>
          <a:prstGeom prst="roundRect">
            <a:avLst/>
          </a:prstGeom>
          <a:solidFill>
            <a:srgbClr val="18A878"/>
          </a:solidFill>
          <a:ln w="10160">
            <a:solidFill>
              <a:srgbClr val="18A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468356" y="5138928"/>
            <a:ext cx="54559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234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92240" y="4114800"/>
            <a:ext cx="109728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00" b="0" i="0">
                <a:solidFill>
                  <a:srgbClr val="64737D"/>
                </a:solidFill>
                <a:latin typeface="Aptos"/>
              </a:rPr>
              <a:t>trips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09 ·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What the processed data tells 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The January 2024 results show clear demand patterns and provide a compact analytical view for decision-making.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212080" cy="3886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103120"/>
            <a:ext cx="25603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HOURLY DEMAND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395728"/>
            <a:ext cx="4343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0202C"/>
                </a:solidFill>
                <a:latin typeface="Aptos"/>
              </a:rPr>
              <a:t>Demand rises through the day and is strongest in the evening period.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99032" y="3081528"/>
            <a:ext cx="0" cy="1600200"/>
          </a:xfrm>
          <a:prstGeom prst="line">
            <a:avLst/>
          </a:prstGeom>
          <a:ln w="1270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399032" y="4681728"/>
            <a:ext cx="4041648" cy="0"/>
          </a:xfrm>
          <a:prstGeom prst="line">
            <a:avLst/>
          </a:prstGeom>
          <a:ln w="1270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399032" y="4137442"/>
            <a:ext cx="175723" cy="152400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574755" y="4289842"/>
            <a:ext cx="175724" cy="87086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750479" y="4376928"/>
            <a:ext cx="175724" cy="43542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926203" y="4398699"/>
            <a:ext cx="175724" cy="21771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101927" y="4268070"/>
            <a:ext cx="175724" cy="130629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277651" y="4006813"/>
            <a:ext cx="175723" cy="261257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453374" y="3702013"/>
            <a:ext cx="175724" cy="304800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629098" y="3527842"/>
            <a:ext cx="175724" cy="174171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804822" y="3527842"/>
            <a:ext cx="175724" cy="108857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980546" y="3636699"/>
            <a:ext cx="175724" cy="174171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156270" y="3810870"/>
            <a:ext cx="175724" cy="108858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31994" y="3919728"/>
            <a:ext cx="175723" cy="43542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507717" y="3963270"/>
            <a:ext cx="175724" cy="43543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683441" y="4006813"/>
            <a:ext cx="175724" cy="21772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859165" y="3941499"/>
            <a:ext cx="175724" cy="87086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034889" y="3767328"/>
            <a:ext cx="175724" cy="174171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210613" y="3484299"/>
            <a:ext cx="175724" cy="283029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386337" y="3310128"/>
            <a:ext cx="175723" cy="174171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562060" y="3310128"/>
            <a:ext cx="175724" cy="87085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737784" y="3397213"/>
            <a:ext cx="175724" cy="195943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913508" y="3593156"/>
            <a:ext cx="175724" cy="152400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089232" y="3745556"/>
            <a:ext cx="175724" cy="108857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264956" y="3854413"/>
            <a:ext cx="175724" cy="152400"/>
          </a:xfrm>
          <a:prstGeom prst="line">
            <a:avLst/>
          </a:prstGeom>
          <a:ln w="27940">
            <a:solidFill>
              <a:srgbClr val="2D7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1357884" y="4096294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6152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00</a:t>
            </a:r>
          </a:p>
        </p:txBody>
      </p:sp>
      <p:sp>
        <p:nvSpPr>
          <p:cNvPr id="38" name="Oval 37"/>
          <p:cNvSpPr/>
          <p:nvPr/>
        </p:nvSpPr>
        <p:spPr>
          <a:xfrm>
            <a:off x="1533607" y="4248694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709331" y="433578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885055" y="4379322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43323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03</a:t>
            </a:r>
          </a:p>
        </p:txBody>
      </p:sp>
      <p:sp>
        <p:nvSpPr>
          <p:cNvPr id="42" name="Oval 41"/>
          <p:cNvSpPr/>
          <p:nvPr/>
        </p:nvSpPr>
        <p:spPr>
          <a:xfrm>
            <a:off x="2060779" y="4357551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36503" y="4226922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412226" y="396566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70494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06</a:t>
            </a:r>
          </a:p>
        </p:txBody>
      </p:sp>
      <p:sp>
        <p:nvSpPr>
          <p:cNvPr id="46" name="Oval 45"/>
          <p:cNvSpPr/>
          <p:nvPr/>
        </p:nvSpPr>
        <p:spPr>
          <a:xfrm>
            <a:off x="2587950" y="366086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763674" y="3486694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939398" y="3595551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97666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09</a:t>
            </a:r>
          </a:p>
        </p:txBody>
      </p:sp>
      <p:sp>
        <p:nvSpPr>
          <p:cNvPr id="50" name="Oval 49"/>
          <p:cNvSpPr/>
          <p:nvPr/>
        </p:nvSpPr>
        <p:spPr>
          <a:xfrm>
            <a:off x="3115122" y="3769722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290846" y="387858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466569" y="3922122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24837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12</a:t>
            </a:r>
          </a:p>
        </p:txBody>
      </p:sp>
      <p:sp>
        <p:nvSpPr>
          <p:cNvPr id="54" name="Oval 53"/>
          <p:cNvSpPr/>
          <p:nvPr/>
        </p:nvSpPr>
        <p:spPr>
          <a:xfrm>
            <a:off x="3642293" y="396566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818017" y="3987437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76285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15</a:t>
            </a:r>
          </a:p>
        </p:txBody>
      </p:sp>
      <p:sp>
        <p:nvSpPr>
          <p:cNvPr id="57" name="Oval 56"/>
          <p:cNvSpPr/>
          <p:nvPr/>
        </p:nvSpPr>
        <p:spPr>
          <a:xfrm>
            <a:off x="3993741" y="3900351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169465" y="372618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345189" y="3443151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03457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18</a:t>
            </a:r>
          </a:p>
        </p:txBody>
      </p:sp>
      <p:sp>
        <p:nvSpPr>
          <p:cNvPr id="61" name="Oval 60"/>
          <p:cNvSpPr/>
          <p:nvPr/>
        </p:nvSpPr>
        <p:spPr>
          <a:xfrm>
            <a:off x="4520912" y="3268980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696636" y="335606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872360" y="3552008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30628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21</a:t>
            </a:r>
          </a:p>
        </p:txBody>
      </p:sp>
      <p:sp>
        <p:nvSpPr>
          <p:cNvPr id="65" name="Oval 64"/>
          <p:cNvSpPr/>
          <p:nvPr/>
        </p:nvSpPr>
        <p:spPr>
          <a:xfrm>
            <a:off x="5048084" y="3704408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223808" y="381326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99532" y="3965665"/>
            <a:ext cx="82296" cy="82296"/>
          </a:xfrm>
          <a:prstGeom prst="ellipse">
            <a:avLst/>
          </a:prstGeom>
          <a:solidFill>
            <a:srgbClr val="2D75E6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257800" y="4727448"/>
            <a:ext cx="3657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700" b="0" i="0">
                <a:solidFill>
                  <a:srgbClr val="64737D"/>
                </a:solidFill>
                <a:latin typeface="Aptos"/>
              </a:rPr>
              <a:t>23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126480" y="1783080"/>
            <a:ext cx="5413248" cy="3886200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28232" y="2103120"/>
            <a:ext cx="1828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KEY FINDINGS</a:t>
            </a:r>
          </a:p>
        </p:txBody>
      </p:sp>
      <p:sp>
        <p:nvSpPr>
          <p:cNvPr id="71" name="Oval 70"/>
          <p:cNvSpPr/>
          <p:nvPr/>
        </p:nvSpPr>
        <p:spPr>
          <a:xfrm>
            <a:off x="6428232" y="262432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29400" y="2514600"/>
            <a:ext cx="43708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2.87M trips remained after quality filtering.</a:t>
            </a:r>
          </a:p>
        </p:txBody>
      </p:sp>
      <p:sp>
        <p:nvSpPr>
          <p:cNvPr id="73" name="Oval 72"/>
          <p:cNvSpPr/>
          <p:nvPr/>
        </p:nvSpPr>
        <p:spPr>
          <a:xfrm>
            <a:off x="6428232" y="312724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629400" y="3017520"/>
            <a:ext cx="43708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$78.42M in total trip revenue was aggregated.</a:t>
            </a:r>
          </a:p>
        </p:txBody>
      </p:sp>
      <p:sp>
        <p:nvSpPr>
          <p:cNvPr id="75" name="Oval 74"/>
          <p:cNvSpPr/>
          <p:nvPr/>
        </p:nvSpPr>
        <p:spPr>
          <a:xfrm>
            <a:off x="6428232" y="363016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629400" y="3520440"/>
            <a:ext cx="43708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Average trip duration was 14.97 minutes.</a:t>
            </a:r>
          </a:p>
        </p:txBody>
      </p:sp>
      <p:sp>
        <p:nvSpPr>
          <p:cNvPr id="77" name="Oval 76"/>
          <p:cNvSpPr/>
          <p:nvPr/>
        </p:nvSpPr>
        <p:spPr>
          <a:xfrm>
            <a:off x="6428232" y="413308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629400" y="4023360"/>
            <a:ext cx="43708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Zone 132 was the busiest pickup area in the result set.</a:t>
            </a:r>
          </a:p>
        </p:txBody>
      </p:sp>
      <p:sp>
        <p:nvSpPr>
          <p:cNvPr id="79" name="Oval 78"/>
          <p:cNvSpPr/>
          <p:nvPr/>
        </p:nvSpPr>
        <p:spPr>
          <a:xfrm>
            <a:off x="6428232" y="463600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629400" y="4526280"/>
            <a:ext cx="43708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202C"/>
                </a:solidFill>
                <a:latin typeface="Aptos"/>
              </a:rPr>
              <a:t>Route and hourly aggregates are ready for repeated API queries.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10 · LIVE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How to present the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A short sequence shows the complete path from processing command to user-facing insight.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1828800"/>
            <a:ext cx="438912" cy="438912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47672"/>
            <a:ext cx="43891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865376"/>
            <a:ext cx="192024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Show MongoDB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892807"/>
            <a:ext cx="7132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4737D"/>
                </a:solidFill>
                <a:latin typeface="Aptos"/>
              </a:rPr>
              <a:t>Open Compass and show the taxi_analytics collections.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96696" y="2286000"/>
            <a:ext cx="0" cy="256032"/>
          </a:xfrm>
          <a:prstGeom prst="line">
            <a:avLst/>
          </a:prstGeom>
          <a:ln w="1905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77240" y="2542032"/>
            <a:ext cx="438912" cy="438912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660904"/>
            <a:ext cx="43891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578608"/>
            <a:ext cx="192024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Show named 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606040"/>
            <a:ext cx="7132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4737D"/>
                </a:solidFill>
                <a:latin typeface="Aptos"/>
              </a:rPr>
              <a:t>Open the dashboard and click a taxi zone to show its name and metrics.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96696" y="2999232"/>
            <a:ext cx="0" cy="256032"/>
          </a:xfrm>
          <a:prstGeom prst="line">
            <a:avLst/>
          </a:prstGeom>
          <a:ln w="1905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777240" y="3255264"/>
            <a:ext cx="438912" cy="438912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374136"/>
            <a:ext cx="43891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291840"/>
            <a:ext cx="192024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Start streaming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3319272"/>
            <a:ext cx="7132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4737D"/>
                </a:solidFill>
                <a:latin typeface="Aptos"/>
              </a:rPr>
              <a:t>Run stream_demand.py and stream_producer.py in two terminals.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96696" y="3712464"/>
            <a:ext cx="0" cy="256032"/>
          </a:xfrm>
          <a:prstGeom prst="line">
            <a:avLst/>
          </a:prstGeom>
          <a:ln w="1905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777240" y="3968496"/>
            <a:ext cx="438912" cy="438912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087368"/>
            <a:ext cx="43891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005072"/>
            <a:ext cx="192024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Show API docs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4032504"/>
            <a:ext cx="7132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4737D"/>
                </a:solidFill>
                <a:latin typeface="Aptos"/>
              </a:rPr>
              <a:t>Open http://127.0.0.1:8000/docs and expand an endpoint.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96696" y="4425696"/>
            <a:ext cx="0" cy="256032"/>
          </a:xfrm>
          <a:prstGeom prst="line">
            <a:avLst/>
          </a:prstGeom>
          <a:ln w="19050">
            <a:solidFill>
              <a:srgbClr val="DCE5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777240" y="4681728"/>
            <a:ext cx="438912" cy="438912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800600"/>
            <a:ext cx="438912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718304"/>
            <a:ext cx="192024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Discuss 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4745736"/>
            <a:ext cx="71323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64737D"/>
                </a:solidFill>
                <a:latin typeface="Aptos"/>
              </a:rPr>
              <a:t>Connect batch and live demand patterns to transport planning.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98280" y="5321808"/>
            <a:ext cx="2194560" cy="429768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17152" y="5440680"/>
            <a:ext cx="1956816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8AD7CF"/>
                </a:solidFill>
                <a:latin typeface="Aptos"/>
              </a:rPr>
              <a:t>Keep the browser open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11 · ENGINEERING LESSONS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Challenges solved during 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The final system is reproducible because the data-quality and platform issues were handled in code and documented.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194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F07844"/>
                </a:solidFill>
                <a:latin typeface="Aptos"/>
              </a:rPr>
              <a:t>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0" y="1874519"/>
            <a:ext cx="21945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SOLUTION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267712"/>
            <a:ext cx="4572000" cy="457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0" y="2267712"/>
            <a:ext cx="5806440" cy="457200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386584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Aptos"/>
              </a:rPr>
              <a:t>Timestamp type mismatch in Spark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2386584"/>
            <a:ext cx="5303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202C"/>
                </a:solidFill>
                <a:latin typeface="Aptos"/>
              </a:rPr>
              <a:t>Used Spark unix_timestamp() for TIMESTAMP_NTZ values.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889504"/>
            <a:ext cx="4572000" cy="457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0" y="2889504"/>
            <a:ext cx="5806440" cy="457200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008376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Aptos"/>
              </a:rPr>
              <a:t>Malformed historical timestamp values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16168" y="3008376"/>
            <a:ext cx="5303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202C"/>
                </a:solidFill>
                <a:latin typeface="Aptos"/>
              </a:rPr>
              <a:t>Added a year-quality filter before computing metrics.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11296"/>
            <a:ext cx="4572000" cy="457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0" y="3511296"/>
            <a:ext cx="5806440" cy="457200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630168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Aptos"/>
              </a:rPr>
              <a:t>Large raw file for web requests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6168" y="3630168"/>
            <a:ext cx="5303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202C"/>
                </a:solidFill>
                <a:latin typeface="Aptos"/>
              </a:rPr>
              <a:t>Precomputed aggregates and stored them in MongoDB.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133087"/>
            <a:ext cx="4572000" cy="457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669280" y="4133087"/>
            <a:ext cx="5806440" cy="457200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251959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Aptos"/>
              </a:rPr>
              <a:t>Need for an immediate presentation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6168" y="4251959"/>
            <a:ext cx="5303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202C"/>
                </a:solidFill>
                <a:latin typeface="Aptos"/>
              </a:rPr>
              <a:t>Added seed_demo.py, then replaced demo data with real Spark output.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754880"/>
            <a:ext cx="4572000" cy="457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669280" y="4754880"/>
            <a:ext cx="5806440" cy="457200"/>
          </a:xfrm>
          <a:prstGeom prst="roundRect">
            <a:avLst/>
          </a:prstGeom>
          <a:solidFill>
            <a:srgbClr val="DFF1ED"/>
          </a:solidFill>
          <a:ln w="10160">
            <a:solidFill>
              <a:srgbClr val="DFF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873752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0202C"/>
                </a:solidFill>
                <a:latin typeface="Aptos"/>
              </a:rPr>
              <a:t>Local Windows Spark warnings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16168" y="4873752"/>
            <a:ext cx="5303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202C"/>
                </a:solidFill>
                <a:latin typeface="Aptos"/>
              </a:rPr>
              <a:t>Warnings about winutils/native Hadoop libraries were non-blocking; job completed.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12 ·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What was implemented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The map, streaming, and predictive analytics capabilities are now working features in the project.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01952"/>
            <a:ext cx="498348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2130552"/>
            <a:ext cx="594360" cy="594360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22576"/>
            <a:ext cx="594360" cy="155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21408"/>
            <a:ext cx="35661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Zone names + maps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459736"/>
            <a:ext cx="3566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Implemented with official TLC lookup data, GeoJSON, and Leaflet.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901952"/>
            <a:ext cx="498348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2130552"/>
            <a:ext cx="594360" cy="594360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322576"/>
            <a:ext cx="594360" cy="155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79" y="2121408"/>
            <a:ext cx="35661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Structured streaming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79" y="2459736"/>
            <a:ext cx="3566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Implemented with Spark Structured Streaming and MongoDB live aggregates.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383280"/>
            <a:ext cx="498348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3611880"/>
            <a:ext cx="594360" cy="594360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803904"/>
            <a:ext cx="594360" cy="155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602736"/>
            <a:ext cx="35661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Spark 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941064"/>
            <a:ext cx="3566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Implemented with linear regression, model metrics, and sample predictions.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383280"/>
            <a:ext cx="498348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46520" y="3611880"/>
            <a:ext cx="594360" cy="594360"/>
          </a:xfrm>
          <a:prstGeom prst="ellipse">
            <a:avLst/>
          </a:prstGeom>
          <a:solidFill>
            <a:srgbClr val="197C73"/>
          </a:solidFill>
          <a:ln w="10160">
            <a:solidFill>
              <a:srgbClr val="197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803904"/>
            <a:ext cx="594360" cy="155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urier New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79" y="3602736"/>
            <a:ext cx="35661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0202C"/>
                </a:solidFill>
                <a:latin typeface="Aptos"/>
              </a:rPr>
              <a:t>More context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79" y="3941064"/>
            <a:ext cx="3566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64737D"/>
                </a:solidFill>
                <a:latin typeface="Aptos"/>
              </a:rPr>
              <a:t>Next roadmap item: add weather, holidays, events, and traffic data.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45920" y="5212080"/>
            <a:ext cx="8869680" cy="502920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5367528"/>
            <a:ext cx="8503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8AD7CF"/>
                </a:solidFill>
                <a:latin typeface="Aptos Display"/>
              </a:rPr>
              <a:t>Batch + live analytics today → intelligent urban mobility platform tomorrow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8AD7CF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8AD7CF"/>
                </a:solidFill>
                <a:latin typeface="Aptos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8AD7CF"/>
                </a:solidFill>
                <a:latin typeface="Aptos"/>
              </a:rPr>
              <a:t>13 ·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ptos Display"/>
              </a:rPr>
              <a:t>A complete big data analytics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B5C9CD"/>
                </a:solidFill>
                <a:latin typeface="Aptos"/>
              </a:rPr>
              <a:t>The project combines distributed computing, NoSQL storage, backend engineering, and frontend communication.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835640" cy="2331720"/>
          </a:xfrm>
          <a:prstGeom prst="roundRect">
            <a:avLst/>
          </a:prstGeom>
          <a:solidFill>
            <a:srgbClr val="1C3E4C"/>
          </a:solidFill>
          <a:ln w="10160">
            <a:solidFill>
              <a:srgbClr val="2E5B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244144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52728" y="2331720"/>
            <a:ext cx="958291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ptos"/>
              </a:rPr>
              <a:t>Apache Spark processed and cleaned 2.87 million taxi trips.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2825496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52728" y="2715768"/>
            <a:ext cx="958291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ptos"/>
              </a:rPr>
              <a:t>Official zone names and an interactive demand map make the results geographic.</a:t>
            </a:r>
          </a:p>
        </p:txBody>
      </p:sp>
      <p:sp>
        <p:nvSpPr>
          <p:cNvPr id="12" name="Oval 11"/>
          <p:cNvSpPr/>
          <p:nvPr/>
        </p:nvSpPr>
        <p:spPr>
          <a:xfrm>
            <a:off x="1051560" y="3209544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2728" y="3099815"/>
            <a:ext cx="958291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ptos"/>
              </a:rPr>
              <a:t>MongoDB stores reusable batch and streaming analytical collections.</a:t>
            </a:r>
          </a:p>
        </p:txBody>
      </p:sp>
      <p:sp>
        <p:nvSpPr>
          <p:cNvPr id="14" name="Oval 13"/>
          <p:cNvSpPr/>
          <p:nvPr/>
        </p:nvSpPr>
        <p:spPr>
          <a:xfrm>
            <a:off x="1051560" y="3593591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3483863"/>
            <a:ext cx="958291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ptos"/>
              </a:rPr>
              <a:t>FastAPI exposes the results through a clean REST interface.</a:t>
            </a:r>
          </a:p>
        </p:txBody>
      </p:sp>
      <p:sp>
        <p:nvSpPr>
          <p:cNvPr id="16" name="Oval 15"/>
          <p:cNvSpPr/>
          <p:nvPr/>
        </p:nvSpPr>
        <p:spPr>
          <a:xfrm>
            <a:off x="1051560" y="3977639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52728" y="3867911"/>
            <a:ext cx="958291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ptos"/>
              </a:rPr>
              <a:t>The dashboard makes demand, revenue, zones, routes, and live events easy to explain.</a:t>
            </a:r>
          </a:p>
        </p:txBody>
      </p:sp>
      <p:sp>
        <p:nvSpPr>
          <p:cNvPr id="18" name="Oval 17"/>
          <p:cNvSpPr/>
          <p:nvPr/>
        </p:nvSpPr>
        <p:spPr>
          <a:xfrm>
            <a:off x="1051560" y="436168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2728" y="4251960"/>
            <a:ext cx="9582911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ptos"/>
              </a:rPr>
              <a:t>Spark ML provides a fare prediction model with RMSE, MAE, and R² metrics.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956048"/>
            <a:ext cx="3657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 i="0">
                <a:solidFill>
                  <a:srgbClr val="8AD7CF"/>
                </a:solidFill>
                <a:latin typeface="Aptos Display"/>
              </a:rPr>
              <a:t>Thank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577840"/>
            <a:ext cx="1828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B5C9CD"/>
                </a:solidFill>
                <a:latin typeface="Aptos"/>
              </a:rPr>
              <a:t>Questions?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557784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200" b="1" i="0">
                <a:solidFill>
                  <a:srgbClr val="8AD7CF"/>
                </a:solidFill>
                <a:latin typeface="Aptos"/>
              </a:rPr>
              <a:t>Jash Parekh · 23BIT033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37960"/>
            <a:ext cx="51206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64737D"/>
                </a:solidFill>
                <a:latin typeface="Aptos"/>
              </a:rPr>
              <a:t>URBAN MOBILITY · BIG DATA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510528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 i="0">
                <a:solidFill>
                  <a:srgbClr val="64737D"/>
                </a:solidFill>
                <a:latin typeface="Apto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5029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14 ·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49808"/>
            <a:ext cx="107899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10202C"/>
                </a:solidFill>
                <a:latin typeface="Aptos Display"/>
              </a:rPr>
              <a:t>Run commands and project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02412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64737D"/>
                </a:solidFill>
                <a:latin typeface="Aptos"/>
              </a:rPr>
              <a:t>Use these commands during a technical demonstration or to reproduce the result on another machine.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5486400" cy="3154680"/>
          </a:xfrm>
          <a:prstGeom prst="roundRect">
            <a:avLst/>
          </a:prstGeom>
          <a:solidFill>
            <a:srgbClr val="102B3A"/>
          </a:solidFill>
          <a:ln w="10160">
            <a:solidFill>
              <a:srgbClr val="102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38528"/>
            <a:ext cx="5157216" cy="29535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8AD7CF"/>
                </a:solidFill>
                <a:latin typeface="Courier New"/>
              </a:rPr>
              <a:t>cd big-data-taxi-analytics
.venv\Scripts\Activate.ps1
python scripts\download_data.py --year 2024 --month 1
python scripts\spark_analyze.py --input data/raw/yellow_tripdata_2024-01.parquet
uvicorn backend.main:app --reload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828800"/>
            <a:ext cx="5029200" cy="3154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176272"/>
            <a:ext cx="1828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97C73"/>
                </a:solidFill>
                <a:latin typeface="Aptos"/>
              </a:rPr>
              <a:t>PROJECT FILES</a:t>
            </a:r>
          </a:p>
        </p:txBody>
      </p:sp>
      <p:sp>
        <p:nvSpPr>
          <p:cNvPr id="12" name="Oval 11"/>
          <p:cNvSpPr/>
          <p:nvPr/>
        </p:nvSpPr>
        <p:spPr>
          <a:xfrm>
            <a:off x="6812280" y="265176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13448" y="2542032"/>
            <a:ext cx="39136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scripts/spark_analyze.py — Spark ETL</a:t>
            </a:r>
          </a:p>
        </p:txBody>
      </p:sp>
      <p:sp>
        <p:nvSpPr>
          <p:cNvPr id="14" name="Oval 13"/>
          <p:cNvSpPr/>
          <p:nvPr/>
        </p:nvSpPr>
        <p:spPr>
          <a:xfrm>
            <a:off x="6812280" y="299008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13448" y="2880360"/>
            <a:ext cx="39136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backend/main.py — FastAPI routes</a:t>
            </a:r>
          </a:p>
        </p:txBody>
      </p:sp>
      <p:sp>
        <p:nvSpPr>
          <p:cNvPr id="16" name="Oval 15"/>
          <p:cNvSpPr/>
          <p:nvPr/>
        </p:nvSpPr>
        <p:spPr>
          <a:xfrm>
            <a:off x="6812280" y="3328415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13448" y="3218687"/>
            <a:ext cx="39136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backend/static/ — dashboard frontend</a:t>
            </a:r>
          </a:p>
        </p:txBody>
      </p:sp>
      <p:sp>
        <p:nvSpPr>
          <p:cNvPr id="18" name="Oval 17"/>
          <p:cNvSpPr/>
          <p:nvPr/>
        </p:nvSpPr>
        <p:spPr>
          <a:xfrm>
            <a:off x="6812280" y="3666744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13448" y="3557015"/>
            <a:ext cx="39136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scripts/download_zone_data.py — named zones + map</a:t>
            </a:r>
          </a:p>
        </p:txBody>
      </p:sp>
      <p:sp>
        <p:nvSpPr>
          <p:cNvPr id="20" name="Oval 19"/>
          <p:cNvSpPr/>
          <p:nvPr/>
        </p:nvSpPr>
        <p:spPr>
          <a:xfrm>
            <a:off x="6812280" y="4005072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13448" y="3895344"/>
            <a:ext cx="39136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scripts/stream_demand.py — live Spark stream</a:t>
            </a:r>
          </a:p>
        </p:txBody>
      </p:sp>
      <p:sp>
        <p:nvSpPr>
          <p:cNvPr id="22" name="Oval 21"/>
          <p:cNvSpPr/>
          <p:nvPr/>
        </p:nvSpPr>
        <p:spPr>
          <a:xfrm>
            <a:off x="6812280" y="4343400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4233672"/>
            <a:ext cx="39136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ml_results collection — fare prediction metrics</a:t>
            </a:r>
          </a:p>
        </p:txBody>
      </p:sp>
      <p:sp>
        <p:nvSpPr>
          <p:cNvPr id="24" name="Oval 23"/>
          <p:cNvSpPr/>
          <p:nvPr/>
        </p:nvSpPr>
        <p:spPr>
          <a:xfrm>
            <a:off x="6812280" y="4681728"/>
            <a:ext cx="91440" cy="91440"/>
          </a:xfrm>
          <a:prstGeom prst="ellipse">
            <a:avLst/>
          </a:prstGeom>
          <a:solidFill>
            <a:srgbClr val="197C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13448" y="4572000"/>
            <a:ext cx="3913632" cy="3017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0202C"/>
                </a:solidFill>
                <a:latin typeface="Aptos"/>
              </a:rPr>
              <a:t>docs/project_report.md — written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440680"/>
            <a:ext cx="49377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97C73"/>
                </a:solidFill>
                <a:latin typeface="Courier New"/>
              </a:rPr>
              <a:t>Dashboard: http://127.0.0.1:8000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440680"/>
            <a:ext cx="4572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97C73"/>
                </a:solidFill>
                <a:latin typeface="Courier New"/>
              </a:rPr>
              <a:t>API docs: http://127.0.0.1:8000/docs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 Mobility Big Data Analytics Dashboard</dc:title>
  <dc:subject>Big Data Analytics university project presentation</dc:subject>
  <dc:creator>Jash Parekh</dc:creator>
  <cp:keywords>Apache Spark, MongoDB, FastAPI, Big Data, Taxi Analytics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